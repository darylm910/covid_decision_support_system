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sldIdLst>
    <p:sldId id="256" r:id="rId2"/>
    <p:sldId id="266" r:id="rId3"/>
    <p:sldId id="267" r:id="rId4"/>
    <p:sldId id="268" r:id="rId5"/>
    <p:sldId id="269" r:id="rId6"/>
    <p:sldId id="271" r:id="rId7"/>
    <p:sldId id="270" r:id="rId8"/>
    <p:sldId id="273" r:id="rId9"/>
    <p:sldId id="26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1"/>
    <p:restoredTop sz="94658"/>
  </p:normalViewPr>
  <p:slideViewPr>
    <p:cSldViewPr snapToGrid="0">
      <p:cViewPr varScale="1">
        <p:scale>
          <a:sx n="120" d="100"/>
          <a:sy n="120" d="100"/>
        </p:scale>
        <p:origin x="5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5472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Daryl Morris, and today I'll be presenting my Springboard Data Science Capstone Three project.</a:t>
            </a:r>
          </a:p>
          <a:p>
            <a:r>
              <a:rPr lang="en-US" dirty="0"/>
              <a:t>In Capstone Two, I developed a Random Forest machine learning model that predicts country-level COVID-19 mortality using demographic, healthcare, economic, vaccination, and public policy variables.</a:t>
            </a:r>
          </a:p>
          <a:p>
            <a:r>
              <a:rPr lang="en-US" dirty="0"/>
              <a:t>For Capstone Three, I extended that work into an interactive decision-support application. Rather than simply producing predictions, the application allows users to explore countries, compare clusters of similar nations, understand why the model makes its predictions using Explainable AI, and test "what-if" scenarios by modifying model inputs in real time.</a:t>
            </a:r>
          </a:p>
          <a:p>
            <a:r>
              <a:rPr lang="en-US" dirty="0"/>
              <a:t>The goal was to create a practical analytical tool that combines predictive modeling, country clustering, and explainable AI into a single interactive dashboard.</a:t>
            </a:r>
          </a:p>
        </p:txBody>
      </p:sp>
      <p:sp>
        <p:nvSpPr>
          <p:cNvPr id="4" name="Slide Number Placeholder 3"/>
          <p:cNvSpPr>
            <a:spLocks noGrp="1"/>
          </p:cNvSpPr>
          <p:nvPr>
            <p:ph type="sldNum" sz="quarter" idx="11"/>
          </p:nvPr>
        </p:nvSpPr>
        <p:spPr/>
        <p:txBody>
          <a:bodyPr/>
          <a:lstStyle/>
          <a:p>
            <a:fld id="{CE5E9CC1-C706-0F49-92D6-E571CC5EAB2E}" type="slidenum">
              <a:rPr lang="en-US" smtClean="0"/>
              <a:t>1</a:t>
            </a:fld>
            <a:endParaRPr lang="en-US"/>
          </a:p>
        </p:txBody>
      </p:sp>
    </p:spTree>
    <p:extLst>
      <p:ext uri="{BB962C8B-B14F-4D97-AF65-F5344CB8AC3E}">
        <p14:creationId xmlns:p14="http://schemas.microsoft.com/office/powerpoint/2010/main" val="31473641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"Capstone Two focused on developing and evaluating a Random Forest model capable of predicting country-level COVID-19 mortality. While the model performed well, it remained a traditional machine learning analysis. Capstone Three extends that work by transforming the model into an interactive decision-support application. Users can now explore country clusters, evaluate hypothetical scenarios, and understand predictions through explainable AI—all within a single interface.”</a:t>
            </a:r>
          </a:p>
          <a:p>
            <a:endParaRPr lang="en-US" dirty="0"/>
          </a:p>
        </p:txBody>
      </p:sp>
      <p:sp>
        <p:nvSpPr>
          <p:cNvPr id="4" name="Slide Number Placeholder 3"/>
          <p:cNvSpPr>
            <a:spLocks noGrp="1"/>
          </p:cNvSpPr>
          <p:nvPr>
            <p:ph type="sldNum" sz="quarter" idx="11"/>
          </p:nvPr>
        </p:nvSpPr>
        <p:spPr/>
        <p:txBody>
          <a:bodyPr/>
          <a:lstStyle/>
          <a:p>
            <a:fld id="{CE5E9CC1-C706-0F49-92D6-E571CC5EAB2E}" type="slidenum">
              <a:rPr lang="en-US" smtClean="0"/>
              <a:t>2</a:t>
            </a:fld>
            <a:endParaRPr lang="en-US"/>
          </a:p>
        </p:txBody>
      </p:sp>
    </p:spTree>
    <p:extLst>
      <p:ext uri="{BB962C8B-B14F-4D97-AF65-F5344CB8AC3E}">
        <p14:creationId xmlns:p14="http://schemas.microsoft.com/office/powerpoint/2010/main" val="2048373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summarizes the overall architecture of the application.</a:t>
            </a:r>
          </a:p>
          <a:p>
            <a:r>
              <a:rPr lang="en-US" dirty="0"/>
              <a:t>The project begins by integrating publicly available data from Our World in Data, the World Bank, and the Oxford COVID-19 Government Response Tracker. These data are cleaned, merged, and prepared for analysis.</a:t>
            </a:r>
          </a:p>
          <a:p>
            <a:r>
              <a:rPr lang="en-US" dirty="0"/>
              <a:t>The Random Forest model predicts cumulative COVID-19 deaths per million using demographic, healthcare, economic, vaccination, and policy variables.</a:t>
            </a:r>
          </a:p>
          <a:p>
            <a:r>
              <a:rPr lang="en-US" dirty="0"/>
              <a:t>Capstone Three extends that predictive model in three important ways.</a:t>
            </a:r>
          </a:p>
          <a:p>
            <a:r>
              <a:rPr lang="en-US" dirty="0"/>
              <a:t>First, K-Means clustering groups countries with similar underlying characteristics, allowing countries to be compared with appropriate peers.</a:t>
            </a:r>
          </a:p>
          <a:p>
            <a:r>
              <a:rPr lang="en-US" dirty="0"/>
              <a:t>Second, SHAP provides explainable AI by identifying which variables drive both the overall model behavior and individual country predictions.</a:t>
            </a:r>
          </a:p>
          <a:p>
            <a:r>
              <a:rPr lang="en-US" dirty="0"/>
              <a:t>Finally, these components are integrated into a </a:t>
            </a:r>
            <a:r>
              <a:rPr lang="en-US" dirty="0" err="1"/>
              <a:t>Streamlit</a:t>
            </a:r>
            <a:r>
              <a:rPr lang="en-US" dirty="0"/>
              <a:t> dashboard that allows users to interactively explore the data, visualize global patterns, and generate new predictions under user-defined scenarios.</a:t>
            </a:r>
          </a:p>
          <a:p>
            <a:r>
              <a:rPr lang="en-US" dirty="0"/>
              <a:t>Together, these components transform a predictive model into an interactive decision-support application.</a:t>
            </a:r>
          </a:p>
        </p:txBody>
      </p:sp>
      <p:sp>
        <p:nvSpPr>
          <p:cNvPr id="4" name="Slide Number Placeholder 3"/>
          <p:cNvSpPr>
            <a:spLocks noGrp="1"/>
          </p:cNvSpPr>
          <p:nvPr>
            <p:ph type="sldNum" sz="quarter" idx="11"/>
          </p:nvPr>
        </p:nvSpPr>
        <p:spPr/>
        <p:txBody>
          <a:bodyPr/>
          <a:lstStyle/>
          <a:p>
            <a:fld id="{CE5E9CC1-C706-0F49-92D6-E571CC5EAB2E}" type="slidenum">
              <a:rPr lang="en-US" smtClean="0"/>
              <a:t>3</a:t>
            </a:fld>
            <a:endParaRPr lang="en-US"/>
          </a:p>
        </p:txBody>
      </p:sp>
    </p:spTree>
    <p:extLst>
      <p:ext uri="{BB962C8B-B14F-4D97-AF65-F5344CB8AC3E}">
        <p14:creationId xmlns:p14="http://schemas.microsoft.com/office/powerpoint/2010/main" val="2385633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major enhancement in Capstone Three is the addition of country clustering.</a:t>
            </a:r>
          </a:p>
          <a:p>
            <a:r>
              <a:rPr lang="en-US" dirty="0"/>
              <a:t>Rather than comparing every country directly, I used K-Means clustering to group countries with similar demographic, healthcare, economic, vaccination, and policy characteristics.</a:t>
            </a:r>
          </a:p>
          <a:p>
            <a:r>
              <a:rPr lang="en-US" dirty="0"/>
              <a:t>Importantly, COVID-19 mortality was intentionally excluded from the clustering algorithm. This ensures that the clusters are based only on underlying characteristics rather than outcomes.</a:t>
            </a:r>
          </a:p>
          <a:p>
            <a:r>
              <a:rPr lang="en-US" dirty="0"/>
              <a:t>The figure on the left shows the clusters projected into two principal components using PCA for visualization, while the map on the right illustrates how those clusters are distributed geographically.</a:t>
            </a:r>
          </a:p>
          <a:p>
            <a:r>
              <a:rPr lang="en-US" dirty="0"/>
              <a:t>These clusters provide meaningful peer groups that make comparisons more informative throughout the dashboard. Users can explore mortality patterns within clusters instead of relying solely on geographic location or income classification.</a:t>
            </a:r>
          </a:p>
        </p:txBody>
      </p:sp>
      <p:sp>
        <p:nvSpPr>
          <p:cNvPr id="4" name="Slide Number Placeholder 3"/>
          <p:cNvSpPr>
            <a:spLocks noGrp="1"/>
          </p:cNvSpPr>
          <p:nvPr>
            <p:ph type="sldNum" sz="quarter" idx="11"/>
          </p:nvPr>
        </p:nvSpPr>
        <p:spPr/>
        <p:txBody>
          <a:bodyPr/>
          <a:lstStyle/>
          <a:p>
            <a:fld id="{CE5E9CC1-C706-0F49-92D6-E571CC5EAB2E}" type="slidenum">
              <a:rPr lang="en-US" smtClean="0"/>
              <a:t>4</a:t>
            </a:fld>
            <a:endParaRPr lang="en-US"/>
          </a:p>
        </p:txBody>
      </p:sp>
    </p:spTree>
    <p:extLst>
      <p:ext uri="{BB962C8B-B14F-4D97-AF65-F5344CB8AC3E}">
        <p14:creationId xmlns:p14="http://schemas.microsoft.com/office/powerpoint/2010/main" val="7231489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challenge with ensemble models like Random Forests is that they often behave as black boxes—they can make accurate predictions without explaining why. To address this, I incorporated SHAP, an Explainable AI framework that quantifies how much each feature contributes to the model's predictions. This chart shows the average importance of each predictor across all countries. Cases per million and geographic region are the strongest contributors, followed by median age, vaccination, and healthcare-related variables. More importantly, SHAP doesn't just explain the model globally—it also explains individual country predictions, which becomes a key feature of the interactive dashboard."</a:t>
            </a:r>
          </a:p>
        </p:txBody>
      </p:sp>
      <p:sp>
        <p:nvSpPr>
          <p:cNvPr id="4" name="Slide Number Placeholder 3"/>
          <p:cNvSpPr>
            <a:spLocks noGrp="1"/>
          </p:cNvSpPr>
          <p:nvPr>
            <p:ph type="sldNum" sz="quarter" idx="11"/>
          </p:nvPr>
        </p:nvSpPr>
        <p:spPr/>
        <p:txBody>
          <a:bodyPr/>
          <a:lstStyle/>
          <a:p>
            <a:fld id="{CE5E9CC1-C706-0F49-92D6-E571CC5EAB2E}" type="slidenum">
              <a:rPr lang="en-US" smtClean="0"/>
              <a:t>5</a:t>
            </a:fld>
            <a:endParaRPr lang="en-US"/>
          </a:p>
        </p:txBody>
      </p:sp>
    </p:spTree>
    <p:extLst>
      <p:ext uri="{BB962C8B-B14F-4D97-AF65-F5344CB8AC3E}">
        <p14:creationId xmlns:p14="http://schemas.microsoft.com/office/powerpoint/2010/main" val="35035488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step of the project was integrating everything into a single interactive </a:t>
            </a:r>
            <a:r>
              <a:rPr lang="en-US" dirty="0" err="1"/>
              <a:t>Streamlit</a:t>
            </a:r>
            <a:r>
              <a:rPr lang="en-US" dirty="0"/>
              <a:t> dashboard.</a:t>
            </a:r>
          </a:p>
          <a:p>
            <a:r>
              <a:rPr lang="en-US" dirty="0"/>
              <a:t>Rather than presenting separate analyses, the dashboard brings together all of the project's components into one interface.</a:t>
            </a:r>
          </a:p>
          <a:p>
            <a:r>
              <a:rPr lang="en-US" dirty="0"/>
              <a:t>Users can explore individual country profiles, visualize global patterns on an interactive map, compare countries using K-Means clustering, examine model performance, view SHAP explanations, and generate new mortality predictions under hypothetical scenarios.</a:t>
            </a:r>
          </a:p>
          <a:p>
            <a:r>
              <a:rPr lang="en-US" dirty="0"/>
              <a:t>The goal was to create a practical decision-support tool where users can move seamlessly between exploration, prediction, and interpretation instead of viewing each analysis independently."</a:t>
            </a:r>
          </a:p>
          <a:p>
            <a:endParaRPr lang="en-US" dirty="0"/>
          </a:p>
        </p:txBody>
      </p:sp>
      <p:sp>
        <p:nvSpPr>
          <p:cNvPr id="4" name="Slide Number Placeholder 3"/>
          <p:cNvSpPr>
            <a:spLocks noGrp="1"/>
          </p:cNvSpPr>
          <p:nvPr>
            <p:ph type="sldNum" sz="quarter" idx="11"/>
          </p:nvPr>
        </p:nvSpPr>
        <p:spPr/>
        <p:txBody>
          <a:bodyPr/>
          <a:lstStyle/>
          <a:p>
            <a:fld id="{CE5E9CC1-C706-0F49-92D6-E571CC5EAB2E}" type="slidenum">
              <a:rPr lang="en-US" smtClean="0"/>
              <a:t>6</a:t>
            </a:fld>
            <a:endParaRPr lang="en-US"/>
          </a:p>
        </p:txBody>
      </p:sp>
    </p:spTree>
    <p:extLst>
      <p:ext uri="{BB962C8B-B14F-4D97-AF65-F5344CB8AC3E}">
        <p14:creationId xmlns:p14="http://schemas.microsoft.com/office/powerpoint/2010/main" val="1897706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useful features of the dashboard is the interactive scenario analysis.</a:t>
            </a:r>
          </a:p>
          <a:p>
            <a:r>
              <a:rPr lang="en-US" dirty="0"/>
              <a:t>Users begin by selecting any country as a baseline and can then modify demographic, healthcare, vaccination, economic, or policy variables.</a:t>
            </a:r>
          </a:p>
          <a:p>
            <a:r>
              <a:rPr lang="en-US" dirty="0"/>
              <a:t>The Random Forest model immediately generates a new mortality prediction, while SHAP explains exactly which variables increased or decreased that prediction and by how much.</a:t>
            </a:r>
          </a:p>
          <a:p>
            <a:r>
              <a:rPr lang="en-US" dirty="0"/>
              <a:t>This transforms the model from a black box into an interactive decision-support system, allowing users to explore 'what-if' scenarios while understanding the reasoning behind each prediction."</a:t>
            </a:r>
          </a:p>
          <a:p>
            <a:endParaRPr lang="en-US" dirty="0"/>
          </a:p>
        </p:txBody>
      </p:sp>
      <p:sp>
        <p:nvSpPr>
          <p:cNvPr id="4" name="Slide Number Placeholder 3"/>
          <p:cNvSpPr>
            <a:spLocks noGrp="1"/>
          </p:cNvSpPr>
          <p:nvPr>
            <p:ph type="sldNum" sz="quarter" idx="11"/>
          </p:nvPr>
        </p:nvSpPr>
        <p:spPr/>
        <p:txBody>
          <a:bodyPr/>
          <a:lstStyle/>
          <a:p>
            <a:fld id="{CE5E9CC1-C706-0F49-92D6-E571CC5EAB2E}" type="slidenum">
              <a:rPr lang="en-US" smtClean="0"/>
              <a:t>7</a:t>
            </a:fld>
            <a:endParaRPr lang="en-US"/>
          </a:p>
        </p:txBody>
      </p:sp>
    </p:spTree>
    <p:extLst>
      <p:ext uri="{BB962C8B-B14F-4D97-AF65-F5344CB8AC3E}">
        <p14:creationId xmlns:p14="http://schemas.microsoft.com/office/powerpoint/2010/main" val="38200234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extends beyond building a predictive model.</a:t>
            </a:r>
          </a:p>
          <a:p>
            <a:r>
              <a:rPr lang="en-US" dirty="0"/>
              <a:t>It integrates the complete data science workflow—from data engineering and feature engineering through machine learning, explainable AI, and deployment in an interactive application.</a:t>
            </a:r>
          </a:p>
          <a:p>
            <a:r>
              <a:rPr lang="en-US" dirty="0"/>
              <a:t>Public datasets were combined into a unified analytical dataset, a Random Forest prediction model and K-Means clustering model were developed, SHAP was applied to provide transparent explanations, and these capabilities were integrated into a </a:t>
            </a:r>
            <a:r>
              <a:rPr lang="en-US" dirty="0" err="1"/>
              <a:t>Streamlit</a:t>
            </a:r>
            <a:r>
              <a:rPr lang="en-US" dirty="0"/>
              <a:t> dashboard.</a:t>
            </a:r>
          </a:p>
          <a:p>
            <a:r>
              <a:rPr lang="en-US" dirty="0"/>
              <a:t>The result is a unified decision-support system that combines prediction, interpretation, visualization, and exploration within a single application."</a:t>
            </a:r>
          </a:p>
        </p:txBody>
      </p:sp>
      <p:sp>
        <p:nvSpPr>
          <p:cNvPr id="4" name="Slide Number Placeholder 3"/>
          <p:cNvSpPr>
            <a:spLocks noGrp="1"/>
          </p:cNvSpPr>
          <p:nvPr>
            <p:ph type="sldNum" sz="quarter" idx="11"/>
          </p:nvPr>
        </p:nvSpPr>
        <p:spPr/>
        <p:txBody>
          <a:bodyPr/>
          <a:lstStyle/>
          <a:p>
            <a:fld id="{CE5E9CC1-C706-0F49-92D6-E571CC5EAB2E}" type="slidenum">
              <a:rPr lang="en-US" smtClean="0"/>
              <a:t>8</a:t>
            </a:fld>
            <a:endParaRPr lang="en-US"/>
          </a:p>
        </p:txBody>
      </p:sp>
    </p:spTree>
    <p:extLst>
      <p:ext uri="{BB962C8B-B14F-4D97-AF65-F5344CB8AC3E}">
        <p14:creationId xmlns:p14="http://schemas.microsoft.com/office/powerpoint/2010/main" val="4243343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demonstrates that combining machine learning with explainable AI can produce not only accurate predictions, but also transparent and interpretable insights. By integrating data engineering, clustering, predictive modeling, SHAP explainability, and an interactive </a:t>
            </a:r>
            <a:r>
              <a:rPr lang="en-US" dirty="0" err="1"/>
              <a:t>Streamlit</a:t>
            </a:r>
            <a:r>
              <a:rPr lang="en-US" dirty="0"/>
              <a:t> dashboard, the result is a practical decision-support tool for exploring complex public health outcomes. Thank you, and I'd be happy to answer any questions."</a:t>
            </a:r>
          </a:p>
        </p:txBody>
      </p:sp>
      <p:sp>
        <p:nvSpPr>
          <p:cNvPr id="4" name="Slide Number Placeholder 3"/>
          <p:cNvSpPr>
            <a:spLocks noGrp="1"/>
          </p:cNvSpPr>
          <p:nvPr>
            <p:ph type="sldNum" sz="quarter" idx="11"/>
          </p:nvPr>
        </p:nvSpPr>
        <p:spPr/>
        <p:txBody>
          <a:bodyPr/>
          <a:lstStyle/>
          <a:p>
            <a:fld id="{CE5E9CC1-C706-0F49-92D6-E571CC5EAB2E}" type="slidenum">
              <a:rPr lang="en-US" smtClean="0"/>
              <a:t>9</a:t>
            </a:fld>
            <a:endParaRPr lang="en-US"/>
          </a:p>
        </p:txBody>
      </p:sp>
    </p:spTree>
    <p:extLst>
      <p:ext uri="{BB962C8B-B14F-4D97-AF65-F5344CB8AC3E}">
        <p14:creationId xmlns:p14="http://schemas.microsoft.com/office/powerpoint/2010/main" val="13412159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8/2/26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8/2/26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8/2/26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8/2/26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8/2/26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8/2/26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8/2/26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8/2/26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8/2/26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8/2/26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darylm910/COVID_Decision_Support_System"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coviddecisionsupportsystem-bwdacuubwqgfphchtpbb8p.streamlit.ap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World COVID incidence map background" descr="World map with countries shaded by COVID-19 incidence intensity, used as a background image"/>
          <p:cNvPicPr>
            <a:picLocks noChangeAspect="1"/>
          </p:cNvPicPr>
          <p:nvPr/>
        </p:nvPicPr>
        <p:blipFill>
          <a:blip r:embed="rId3"/>
          <a:srcRect l="1513" r="1513"/>
          <a:stretch>
            <a:fillRect/>
          </a:stretch>
        </p:blipFill>
        <p:spPr>
          <a:xfrm>
            <a:off x="0" y="0"/>
            <a:ext cx="12192000" cy="6858000"/>
          </a:xfrm>
          <a:prstGeom prst="rect">
            <a:avLst/>
          </a:prstGeom>
        </p:spPr>
      </p:pic>
      <p:sp>
        <p:nvSpPr>
          <p:cNvPr id="11" name="Background scrim">
            <a:extLs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071426">
              <a:alpha val="55000"/>
            </a:srgbClr>
          </a:solidFill>
          <a:ln>
            <a:noFill/>
          </a:ln>
        </p:spPr>
        <p:txBody>
          <a:bodyPr/>
          <a:lstStyle/>
          <a:p>
            <a:endParaRPr lang="en-US"/>
          </a:p>
        </p:txBody>
      </p:sp>
      <p:sp>
        <p:nvSpPr>
          <p:cNvPr id="2" name="Title 1">
            <a:extLst>
              <a:ext uri="{FF2B5EF4-FFF2-40B4-BE49-F238E27FC236}">
                <a16:creationId xmlns:a16="http://schemas.microsoft.com/office/drawing/2014/main" id="{0C5681D5-6BAE-AE2B-7799-485325940A1E}"/>
              </a:ext>
            </a:extLst>
          </p:cNvPr>
          <p:cNvSpPr>
            <a:spLocks noGrp="1"/>
          </p:cNvSpPr>
          <p:nvPr>
            <p:ph type="ctrTitle"/>
          </p:nvPr>
        </p:nvSpPr>
        <p:spPr>
          <a:xfrm>
            <a:off x="1223494" y="800100"/>
            <a:ext cx="9444506" cy="2760000"/>
          </a:xfrm>
        </p:spPr>
        <p:txBody>
          <a:bodyPr anchor="b">
            <a:normAutofit/>
          </a:bodyPr>
          <a:lstStyle/>
          <a:p>
            <a:r>
              <a:rPr lang="en-US" sz="2800"/>
              <a:t>AN INTERACTIVE</a:t>
            </a:r>
            <a:br>
              <a:rPr lang="en-US" sz="2800"/>
            </a:br>
            <a:r>
              <a:rPr lang="en-US" sz="2800"/>
              <a:t>COVID-19 DECISION</a:t>
            </a:r>
            <a:br>
              <a:rPr lang="en-US" sz="2800"/>
            </a:br>
            <a:r>
              <a:rPr lang="en-US" sz="2800"/>
              <a:t>SUPPORT APPLICATION</a:t>
            </a:r>
            <a:br>
              <a:rPr lang="en-US" sz="2800"/>
            </a:br>
            <a:br>
              <a:rPr lang="en-US" sz="3200"/>
            </a:br>
            <a:r>
              <a:rPr lang="en-US" sz="2000" cap="none">
                <a:solidFill>
                  <a:schemeClr val="tx2"/>
                </a:solidFill>
              </a:rPr>
              <a:t>Integrating Machine Learning, Clustering, </a:t>
            </a:r>
            <a:r>
              <a:rPr lang="en-US" sz="2000" cap="none" dirty="0">
                <a:solidFill>
                  <a:schemeClr val="tx2"/>
                </a:solidFill>
              </a:rPr>
              <a:t>and </a:t>
            </a:r>
            <a:r>
              <a:rPr lang="en-US" sz="2000" cap="none">
                <a:solidFill>
                  <a:schemeClr val="tx2"/>
                </a:solidFill>
              </a:rPr>
              <a:t>Explainable AI</a:t>
            </a:r>
            <a:endParaRPr lang="en-US" sz="2000" cap="none" dirty="0">
              <a:solidFill>
                <a:schemeClr val="tx2"/>
              </a:solidFill>
            </a:endParaRPr>
          </a:p>
        </p:txBody>
      </p:sp>
      <p:sp>
        <p:nvSpPr>
          <p:cNvPr id="3" name="Subtitle 2">
            <a:extLst>
              <a:ext uri="{FF2B5EF4-FFF2-40B4-BE49-F238E27FC236}">
                <a16:creationId xmlns:a16="http://schemas.microsoft.com/office/drawing/2014/main" id="{03E8BC6D-DD73-C2F9-71D2-59C35F8F8A2D}"/>
              </a:ext>
            </a:extLst>
          </p:cNvPr>
          <p:cNvSpPr>
            <a:spLocks noGrp="1"/>
          </p:cNvSpPr>
          <p:nvPr>
            <p:ph type="subTitle" idx="1"/>
          </p:nvPr>
        </p:nvSpPr>
        <p:spPr>
          <a:xfrm>
            <a:off x="1223494" y="4056845"/>
            <a:ext cx="9444505" cy="1880315"/>
          </a:xfrm>
        </p:spPr>
        <p:txBody>
          <a:bodyPr>
            <a:normAutofit/>
          </a:bodyPr>
          <a:lstStyle/>
          <a:p>
            <a:r>
              <a:rPr lang="en-US" sz="2000" b="1" cap="none" dirty="0">
                <a:solidFill>
                  <a:schemeClr val="tx1"/>
                </a:solidFill>
              </a:rPr>
              <a:t>Daryl Morris</a:t>
            </a:r>
          </a:p>
          <a:p>
            <a:r>
              <a:rPr lang="en-US" sz="1600" cap="none">
                <a:solidFill>
                  <a:schemeClr val="tx1"/>
                </a:solidFill>
              </a:rPr>
              <a:t>Springboard Data Science Career Track</a:t>
            </a:r>
          </a:p>
          <a:p>
            <a:pPr>
              <a:spcBef>
                <a:spcPts val="0"/>
              </a:spcBef>
            </a:pPr>
            <a:r>
              <a:rPr lang="en-US" sz="1600" cap="none">
                <a:solidFill>
                  <a:schemeClr val="tx1"/>
                </a:solidFill>
              </a:rPr>
              <a:t>Capstone Three</a:t>
            </a:r>
          </a:p>
          <a:p>
            <a:r>
              <a:rPr lang="en-US" sz="1600" cap="none">
                <a:solidFill>
                  <a:schemeClr val="tx2"/>
                </a:solidFill>
              </a:rPr>
              <a:t>July 2026</a:t>
            </a:r>
            <a:endParaRPr lang="en-US" sz="1600" cap="none" dirty="0">
              <a:solidFill>
                <a:schemeClr val="tx2"/>
              </a:solidFill>
            </a:endParaRPr>
          </a:p>
        </p:txBody>
      </p:sp>
    </p:spTree>
    <p:extLst>
      <p:ext uri="{BB962C8B-B14F-4D97-AF65-F5344CB8AC3E}">
        <p14:creationId xmlns:p14="http://schemas.microsoft.com/office/powerpoint/2010/main" val="2671633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a:t>Project Evolution</a:t>
            </a:r>
          </a:p>
        </p:txBody>
      </p:sp>
      <p:sp>
        <p:nvSpPr>
          <p:cNvPr id="10" name="Left column panel"/>
          <p:cNvSpPr/>
          <p:nvPr/>
        </p:nvSpPr>
        <p:spPr>
          <a:xfrm>
            <a:off x="1141412" y="1680000"/>
            <a:ext cx="4000000" cy="3720000"/>
          </a:xfrm>
          <a:prstGeom prst="roundRect">
            <a:avLst>
              <a:gd name="adj" fmla="val 4000"/>
            </a:avLst>
          </a:prstGeom>
          <a:solidFill>
            <a:srgbClr val="FFFFFF"/>
          </a:solidFill>
          <a:ln w="12700">
            <a:solidFill>
              <a:srgbClr val="9ACD4C"/>
            </a:solidFill>
          </a:ln>
        </p:spPr>
        <p:txBody>
          <a:bodyPr/>
          <a:lstStyle/>
          <a:p>
            <a:endParaRPr lang="en-US"/>
          </a:p>
        </p:txBody>
      </p:sp>
      <p:sp>
        <p:nvSpPr>
          <p:cNvPr id="11" name="Left icon bar A"/>
          <p:cNvSpPr/>
          <p:nvPr/>
        </p:nvSpPr>
        <p:spPr>
          <a:xfrm>
            <a:off x="1481412" y="1980000"/>
            <a:ext cx="95000" cy="160000"/>
          </a:xfrm>
          <a:prstGeom prst="rect">
            <a:avLst/>
          </a:prstGeom>
          <a:solidFill>
            <a:srgbClr val="9ACD4C"/>
          </a:solidFill>
        </p:spPr>
        <p:txBody>
          <a:bodyPr/>
          <a:lstStyle/>
          <a:p>
            <a:endParaRPr lang="en-US"/>
          </a:p>
        </p:txBody>
      </p:sp>
      <p:sp>
        <p:nvSpPr>
          <p:cNvPr id="12" name="Left icon bar B"/>
          <p:cNvSpPr/>
          <p:nvPr/>
        </p:nvSpPr>
        <p:spPr>
          <a:xfrm>
            <a:off x="1606412" y="1920000"/>
            <a:ext cx="95000" cy="220000"/>
          </a:xfrm>
          <a:prstGeom prst="rect">
            <a:avLst/>
          </a:prstGeom>
          <a:solidFill>
            <a:srgbClr val="0F766E"/>
          </a:solidFill>
        </p:spPr>
        <p:txBody>
          <a:bodyPr/>
          <a:lstStyle/>
          <a:p>
            <a:endParaRPr lang="en-US"/>
          </a:p>
        </p:txBody>
      </p:sp>
      <p:sp>
        <p:nvSpPr>
          <p:cNvPr id="13" name="Left icon bar C"/>
          <p:cNvSpPr/>
          <p:nvPr/>
        </p:nvSpPr>
        <p:spPr>
          <a:xfrm>
            <a:off x="1731412" y="1860000"/>
            <a:ext cx="95000" cy="280000"/>
          </a:xfrm>
          <a:prstGeom prst="rect">
            <a:avLst/>
          </a:prstGeom>
          <a:solidFill>
            <a:srgbClr val="9ACD4C"/>
          </a:solidFill>
        </p:spPr>
        <p:txBody>
          <a:bodyPr/>
          <a:lstStyle/>
          <a:p>
            <a:endParaRPr lang="en-US"/>
          </a:p>
        </p:txBody>
      </p:sp>
      <p:sp>
        <p:nvSpPr>
          <p:cNvPr id="14" name="Left heading"/>
          <p:cNvSpPr/>
          <p:nvPr/>
        </p:nvSpPr>
        <p:spPr>
          <a:xfrm>
            <a:off x="1960000" y="1840000"/>
            <a:ext cx="2900000" cy="440000"/>
          </a:xfrm>
          <a:prstGeom prst="rect">
            <a:avLst/>
          </a:prstGeom>
          <a:noFill/>
        </p:spPr>
        <p:txBody>
          <a:bodyPr wrap="square" lIns="0" tIns="0" rIns="0" bIns="0" anchor="ctr"/>
          <a:lstStyle/>
          <a:p>
            <a:r>
              <a:rPr lang="en-US" sz="1650" b="1">
                <a:solidFill>
                  <a:srgbClr val="0F766E"/>
                </a:solidFill>
                <a:latin typeface="+mj-lt"/>
              </a:rPr>
              <a:t>Capstone Two</a:t>
            </a:r>
          </a:p>
        </p:txBody>
      </p:sp>
      <p:sp>
        <p:nvSpPr>
          <p:cNvPr id="15" name="Left subheading"/>
          <p:cNvSpPr/>
          <p:nvPr/>
        </p:nvSpPr>
        <p:spPr>
          <a:xfrm>
            <a:off x="1421412" y="2340000"/>
            <a:ext cx="3440000" cy="360000"/>
          </a:xfrm>
          <a:prstGeom prst="rect">
            <a:avLst/>
          </a:prstGeom>
          <a:noFill/>
        </p:spPr>
        <p:txBody>
          <a:bodyPr wrap="square" lIns="0" tIns="0" rIns="0" bIns="0" anchor="ctr"/>
          <a:lstStyle/>
          <a:p>
            <a:r>
              <a:rPr lang="en-US" sz="1250" i="1">
                <a:solidFill>
                  <a:srgbClr val="0B2138"/>
                </a:solidFill>
              </a:rPr>
              <a:t>Predictive Machine Learning Model</a:t>
            </a:r>
          </a:p>
        </p:txBody>
      </p:sp>
      <p:sp>
        <p:nvSpPr>
          <p:cNvPr id="16" name="Left divider"/>
          <p:cNvSpPr/>
          <p:nvPr/>
        </p:nvSpPr>
        <p:spPr>
          <a:xfrm>
            <a:off x="1421412" y="2760000"/>
            <a:ext cx="3440000" cy="18000"/>
          </a:xfrm>
          <a:prstGeom prst="rect">
            <a:avLst/>
          </a:prstGeom>
          <a:solidFill>
            <a:srgbClr val="D7E3CC"/>
          </a:solidFill>
        </p:spPr>
        <p:txBody>
          <a:bodyPr/>
          <a:lstStyle/>
          <a:p>
            <a:endParaRPr lang="en-US"/>
          </a:p>
        </p:txBody>
      </p:sp>
      <p:sp>
        <p:nvSpPr>
          <p:cNvPr id="17" name="Left bullets"/>
          <p:cNvSpPr/>
          <p:nvPr/>
        </p:nvSpPr>
        <p:spPr>
          <a:xfrm>
            <a:off x="1421412" y="2880000"/>
            <a:ext cx="3440000" cy="2360000"/>
          </a:xfrm>
          <a:prstGeom prst="rect">
            <a:avLst/>
          </a:prstGeom>
          <a:noFill/>
        </p:spPr>
        <p:txBody>
          <a:bodyPr wrap="square" lIns="0" tIns="0" rIns="0" bIns="0" anchor="t"/>
          <a:lstStyle/>
          <a:p>
            <a:pPr marL="228600" indent="-228600">
              <a:spcBef>
                <a:spcPts val="1050"/>
              </a:spcBef>
              <a:buClr>
                <a:srgbClr val="9ACD4C"/>
              </a:buClr>
              <a:buFont typeface="Arial"/>
              <a:buChar char="▪"/>
            </a:pPr>
            <a:r>
              <a:rPr lang="en-US" sz="1250">
                <a:solidFill>
                  <a:srgbClr val="0B2138"/>
                </a:solidFill>
              </a:rPr>
              <a:t>Random Forest regression model</a:t>
            </a:r>
          </a:p>
          <a:p>
            <a:pPr marL="228600" indent="-228600">
              <a:spcBef>
                <a:spcPts val="1050"/>
              </a:spcBef>
              <a:buClr>
                <a:srgbClr val="9ACD4C"/>
              </a:buClr>
              <a:buFont typeface="Arial"/>
              <a:buChar char="▪"/>
            </a:pPr>
            <a:r>
              <a:rPr lang="en-US" sz="1250">
                <a:solidFill>
                  <a:srgbClr val="0B2138"/>
                </a:solidFill>
              </a:rPr>
              <a:t>Country-level COVID-19 mortality prediction</a:t>
            </a:r>
          </a:p>
          <a:p>
            <a:pPr marL="228600" indent="-228600">
              <a:spcBef>
                <a:spcPts val="1050"/>
              </a:spcBef>
              <a:buClr>
                <a:srgbClr val="9ACD4C"/>
              </a:buClr>
              <a:buFont typeface="Arial"/>
              <a:buChar char="▪"/>
            </a:pPr>
            <a:r>
              <a:rPr lang="en-US" sz="1250">
                <a:solidFill>
                  <a:srgbClr val="0B2138"/>
                </a:solidFill>
              </a:rPr>
              <a:t>Static analysis and feature importance</a:t>
            </a:r>
          </a:p>
          <a:p>
            <a:pPr marL="228600" indent="-228600">
              <a:spcBef>
                <a:spcPts val="1050"/>
              </a:spcBef>
              <a:buClr>
                <a:srgbClr val="9ACD4C"/>
              </a:buClr>
              <a:buFont typeface="Arial"/>
              <a:buChar char="▪"/>
            </a:pPr>
            <a:r>
              <a:rPr lang="en-US" sz="1250">
                <a:solidFill>
                  <a:srgbClr val="0B2138"/>
                </a:solidFill>
              </a:rPr>
              <a:t>Machine learning performance evaluation</a:t>
            </a:r>
          </a:p>
        </p:txBody>
      </p:sp>
      <p:sp>
        <p:nvSpPr>
          <p:cNvPr id="30" name="Right column panel"/>
          <p:cNvSpPr/>
          <p:nvPr/>
        </p:nvSpPr>
        <p:spPr>
          <a:xfrm>
            <a:off x="7050588" y="1680000"/>
            <a:ext cx="4000000" cy="3720000"/>
          </a:xfrm>
          <a:prstGeom prst="roundRect">
            <a:avLst>
              <a:gd name="adj" fmla="val 4000"/>
            </a:avLst>
          </a:prstGeom>
          <a:solidFill>
            <a:srgbClr val="FFFFFF"/>
          </a:solidFill>
          <a:ln w="12700">
            <a:solidFill>
              <a:srgbClr val="9ACD4C"/>
            </a:solidFill>
          </a:ln>
        </p:spPr>
        <p:txBody>
          <a:bodyPr/>
          <a:lstStyle/>
          <a:p>
            <a:endParaRPr lang="en-US"/>
          </a:p>
        </p:txBody>
      </p:sp>
      <p:sp>
        <p:nvSpPr>
          <p:cNvPr id="31" name="Right icon frame"/>
          <p:cNvSpPr/>
          <p:nvPr/>
        </p:nvSpPr>
        <p:spPr>
          <a:xfrm>
            <a:off x="7360588" y="1860000"/>
            <a:ext cx="470000" cy="380000"/>
          </a:xfrm>
          <a:prstGeom prst="roundRect">
            <a:avLst>
              <a:gd name="adj" fmla="val 10000"/>
            </a:avLst>
          </a:prstGeom>
          <a:noFill/>
          <a:ln w="15875">
            <a:solidFill>
              <a:srgbClr val="0F766E"/>
            </a:solidFill>
          </a:ln>
        </p:spPr>
        <p:txBody>
          <a:bodyPr/>
          <a:lstStyle/>
          <a:p>
            <a:endParaRPr lang="en-US"/>
          </a:p>
        </p:txBody>
      </p:sp>
      <p:sp>
        <p:nvSpPr>
          <p:cNvPr id="32" name="Right icon titlebar"/>
          <p:cNvSpPr/>
          <p:nvPr/>
        </p:nvSpPr>
        <p:spPr>
          <a:xfrm>
            <a:off x="7430588" y="1935000"/>
            <a:ext cx="330000" cy="42000"/>
          </a:xfrm>
          <a:prstGeom prst="rect">
            <a:avLst/>
          </a:prstGeom>
          <a:solidFill>
            <a:srgbClr val="0F766E"/>
          </a:solidFill>
        </p:spPr>
        <p:txBody>
          <a:bodyPr/>
          <a:lstStyle/>
          <a:p>
            <a:endParaRPr lang="en-US"/>
          </a:p>
        </p:txBody>
      </p:sp>
      <p:sp>
        <p:nvSpPr>
          <p:cNvPr id="33" name="Right icon dash bar A"/>
          <p:cNvSpPr/>
          <p:nvPr/>
        </p:nvSpPr>
        <p:spPr>
          <a:xfrm>
            <a:off x="7450588" y="2060000"/>
            <a:ext cx="70000" cy="110000"/>
          </a:xfrm>
          <a:prstGeom prst="rect">
            <a:avLst/>
          </a:prstGeom>
          <a:solidFill>
            <a:srgbClr val="9ACD4C"/>
          </a:solidFill>
        </p:spPr>
        <p:txBody>
          <a:bodyPr/>
          <a:lstStyle/>
          <a:p>
            <a:endParaRPr lang="en-US"/>
          </a:p>
        </p:txBody>
      </p:sp>
      <p:sp>
        <p:nvSpPr>
          <p:cNvPr id="34" name="Right icon dash bar B"/>
          <p:cNvSpPr/>
          <p:nvPr/>
        </p:nvSpPr>
        <p:spPr>
          <a:xfrm>
            <a:off x="7560588" y="2010000"/>
            <a:ext cx="70000" cy="160000"/>
          </a:xfrm>
          <a:prstGeom prst="rect">
            <a:avLst/>
          </a:prstGeom>
          <a:solidFill>
            <a:srgbClr val="0F766E"/>
          </a:solidFill>
        </p:spPr>
        <p:txBody>
          <a:bodyPr/>
          <a:lstStyle/>
          <a:p>
            <a:endParaRPr lang="en-US"/>
          </a:p>
        </p:txBody>
      </p:sp>
      <p:sp>
        <p:nvSpPr>
          <p:cNvPr id="35" name="Right icon dash bar C"/>
          <p:cNvSpPr/>
          <p:nvPr/>
        </p:nvSpPr>
        <p:spPr>
          <a:xfrm>
            <a:off x="7670588" y="2100000"/>
            <a:ext cx="70000" cy="70000"/>
          </a:xfrm>
          <a:prstGeom prst="rect">
            <a:avLst/>
          </a:prstGeom>
          <a:solidFill>
            <a:srgbClr val="9ACD4C"/>
          </a:solidFill>
        </p:spPr>
        <p:txBody>
          <a:bodyPr/>
          <a:lstStyle/>
          <a:p>
            <a:endParaRPr lang="en-US"/>
          </a:p>
        </p:txBody>
      </p:sp>
      <p:sp>
        <p:nvSpPr>
          <p:cNvPr id="36" name="Right heading"/>
          <p:cNvSpPr/>
          <p:nvPr/>
        </p:nvSpPr>
        <p:spPr>
          <a:xfrm>
            <a:off x="7900588" y="1840000"/>
            <a:ext cx="2870000" cy="440000"/>
          </a:xfrm>
          <a:prstGeom prst="rect">
            <a:avLst/>
          </a:prstGeom>
          <a:noFill/>
        </p:spPr>
        <p:txBody>
          <a:bodyPr wrap="square" lIns="0" tIns="0" rIns="0" bIns="0" anchor="ctr"/>
          <a:lstStyle/>
          <a:p>
            <a:r>
              <a:rPr lang="en-US" sz="1650" b="1">
                <a:solidFill>
                  <a:srgbClr val="0F766E"/>
                </a:solidFill>
                <a:latin typeface="+mj-lt"/>
              </a:rPr>
              <a:t>Capstone Three</a:t>
            </a:r>
          </a:p>
        </p:txBody>
      </p:sp>
      <p:sp>
        <p:nvSpPr>
          <p:cNvPr id="37" name="Right subheading"/>
          <p:cNvSpPr/>
          <p:nvPr/>
        </p:nvSpPr>
        <p:spPr>
          <a:xfrm>
            <a:off x="7330588" y="2340000"/>
            <a:ext cx="3440000" cy="360000"/>
          </a:xfrm>
          <a:prstGeom prst="rect">
            <a:avLst/>
          </a:prstGeom>
          <a:noFill/>
        </p:spPr>
        <p:txBody>
          <a:bodyPr wrap="square" lIns="0" tIns="0" rIns="0" bIns="0" anchor="ctr"/>
          <a:lstStyle/>
          <a:p>
            <a:r>
              <a:rPr lang="en-US" sz="1250" i="1">
                <a:solidFill>
                  <a:srgbClr val="0B2138"/>
                </a:solidFill>
              </a:rPr>
              <a:t>Interactive Decision-Support Application</a:t>
            </a:r>
          </a:p>
        </p:txBody>
      </p:sp>
      <p:sp>
        <p:nvSpPr>
          <p:cNvPr id="38" name="Right divider"/>
          <p:cNvSpPr/>
          <p:nvPr/>
        </p:nvSpPr>
        <p:spPr>
          <a:xfrm>
            <a:off x="7330588" y="2760000"/>
            <a:ext cx="3440000" cy="18000"/>
          </a:xfrm>
          <a:prstGeom prst="rect">
            <a:avLst/>
          </a:prstGeom>
          <a:solidFill>
            <a:srgbClr val="D7E3CC"/>
          </a:solidFill>
        </p:spPr>
        <p:txBody>
          <a:bodyPr/>
          <a:lstStyle/>
          <a:p>
            <a:endParaRPr lang="en-US"/>
          </a:p>
        </p:txBody>
      </p:sp>
      <p:sp>
        <p:nvSpPr>
          <p:cNvPr id="39" name="Right bullets"/>
          <p:cNvSpPr/>
          <p:nvPr/>
        </p:nvSpPr>
        <p:spPr>
          <a:xfrm>
            <a:off x="7330588" y="2860000"/>
            <a:ext cx="3440000" cy="2440000"/>
          </a:xfrm>
          <a:prstGeom prst="rect">
            <a:avLst/>
          </a:prstGeom>
          <a:noFill/>
        </p:spPr>
        <p:txBody>
          <a:bodyPr wrap="square" lIns="0" tIns="0" rIns="0" bIns="0" anchor="t"/>
          <a:lstStyle/>
          <a:p>
            <a:pPr marL="228600" indent="-228600">
              <a:spcBef>
                <a:spcPts val="560"/>
              </a:spcBef>
              <a:buClr>
                <a:srgbClr val="9ACD4C"/>
              </a:buClr>
              <a:buFont typeface="Arial"/>
              <a:buChar char="▪"/>
            </a:pPr>
            <a:r>
              <a:rPr lang="en-US" sz="1200">
                <a:solidFill>
                  <a:srgbClr val="0B2138"/>
                </a:solidFill>
              </a:rPr>
              <a:t>Interactive Streamlit dashboard</a:t>
            </a:r>
          </a:p>
          <a:p>
            <a:pPr marL="228600" indent="-228600">
              <a:spcBef>
                <a:spcPts val="560"/>
              </a:spcBef>
              <a:buClr>
                <a:srgbClr val="9ACD4C"/>
              </a:buClr>
              <a:buFont typeface="Arial"/>
              <a:buChar char="▪"/>
            </a:pPr>
            <a:r>
              <a:rPr lang="en-US" sz="1200">
                <a:solidFill>
                  <a:srgbClr val="0B2138"/>
                </a:solidFill>
              </a:rPr>
              <a:t>K-Means country clustering</a:t>
            </a:r>
          </a:p>
          <a:p>
            <a:pPr marL="228600" indent="-228600">
              <a:spcBef>
                <a:spcPts val="560"/>
              </a:spcBef>
              <a:buClr>
                <a:srgbClr val="9ACD4C"/>
              </a:buClr>
              <a:buFont typeface="Arial"/>
              <a:buChar char="▪"/>
            </a:pPr>
            <a:r>
              <a:rPr lang="en-US" sz="1200">
                <a:solidFill>
                  <a:srgbClr val="0B2138"/>
                </a:solidFill>
              </a:rPr>
              <a:t>Scenario-based prediction</a:t>
            </a:r>
          </a:p>
          <a:p>
            <a:pPr marL="228600" indent="-228600">
              <a:spcBef>
                <a:spcPts val="560"/>
              </a:spcBef>
              <a:buClr>
                <a:srgbClr val="9ACD4C"/>
              </a:buClr>
              <a:buFont typeface="Arial"/>
              <a:buChar char="▪"/>
            </a:pPr>
            <a:r>
              <a:rPr lang="en-US" sz="1200">
                <a:solidFill>
                  <a:srgbClr val="0B2138"/>
                </a:solidFill>
              </a:rPr>
              <a:t>SHAP explainability</a:t>
            </a:r>
          </a:p>
          <a:p>
            <a:pPr marL="228600" indent="-228600">
              <a:spcBef>
                <a:spcPts val="560"/>
              </a:spcBef>
              <a:buClr>
                <a:srgbClr val="9ACD4C"/>
              </a:buClr>
              <a:buFont typeface="Arial"/>
              <a:buChar char="▪"/>
            </a:pPr>
            <a:r>
              <a:rPr lang="en-US" sz="1200">
                <a:solidFill>
                  <a:srgbClr val="0B2138"/>
                </a:solidFill>
              </a:rPr>
              <a:t>Real-time prediction explanation</a:t>
            </a:r>
          </a:p>
        </p:txBody>
      </p:sp>
      <p:sp>
        <p:nvSpPr>
          <p:cNvPr id="50" name="Extended Into label"/>
          <p:cNvSpPr/>
          <p:nvPr/>
        </p:nvSpPr>
        <p:spPr>
          <a:xfrm>
            <a:off x="5141412" y="2800000"/>
            <a:ext cx="1909176" cy="340000"/>
          </a:xfrm>
          <a:prstGeom prst="rect">
            <a:avLst/>
          </a:prstGeom>
          <a:noFill/>
        </p:spPr>
        <p:txBody>
          <a:bodyPr wrap="square" lIns="0" tIns="0" rIns="0" bIns="0" anchor="ctr"/>
          <a:lstStyle/>
          <a:p>
            <a:pPr algn="ctr"/>
            <a:r>
              <a:rPr lang="en-US" sz="1200" b="1">
                <a:solidFill>
                  <a:srgbClr val="E6F7FA"/>
                </a:solidFill>
                <a:latin typeface="+mj-lt"/>
              </a:rPr>
              <a:t>Evolved Into</a:t>
            </a:r>
          </a:p>
        </p:txBody>
      </p:sp>
      <p:sp>
        <p:nvSpPr>
          <p:cNvPr id="51" name="Progression arrow"/>
          <p:cNvSpPr/>
          <p:nvPr/>
        </p:nvSpPr>
        <p:spPr>
          <a:xfrm>
            <a:off x="5796000" y="3240000"/>
            <a:ext cx="600000" cy="1040000"/>
          </a:xfrm>
          <a:prstGeom prst="downArrow">
            <a:avLst>
              <a:gd name="adj1" fmla="val 55000"/>
              <a:gd name="adj2" fmla="val 55000"/>
            </a:avLst>
          </a:prstGeom>
          <a:solidFill>
            <a:srgbClr val="9ACD4C"/>
          </a:solidFill>
          <a:ln>
            <a:noFill/>
          </a:ln>
        </p:spPr>
        <p:txBody>
          <a:bodyPr/>
          <a:lstStyle/>
          <a:p>
            <a:endParaRPr lang="en-US"/>
          </a:p>
        </p:txBody>
      </p:sp>
      <p:sp>
        <p:nvSpPr>
          <p:cNvPr id="60" name="Project Goal banner"/>
          <p:cNvSpPr/>
          <p:nvPr/>
        </p:nvSpPr>
        <p:spPr>
          <a:xfrm>
            <a:off x="1141412" y="5560000"/>
            <a:ext cx="9909176" cy="1080000"/>
          </a:xfrm>
          <a:prstGeom prst="roundRect">
            <a:avLst>
              <a:gd name="adj" fmla="val 7000"/>
            </a:avLst>
          </a:prstGeom>
          <a:solidFill>
            <a:srgbClr val="E2F0D9"/>
          </a:solidFill>
          <a:ln w="19050">
            <a:solidFill>
              <a:srgbClr val="9ACD4C"/>
            </a:solidFill>
          </a:ln>
        </p:spPr>
        <p:txBody>
          <a:bodyPr/>
          <a:lstStyle/>
          <a:p>
            <a:endParaRPr lang="en-US"/>
          </a:p>
        </p:txBody>
      </p:sp>
      <p:sp>
        <p:nvSpPr>
          <p:cNvPr id="61" name="Banner accent"/>
          <p:cNvSpPr/>
          <p:nvPr/>
        </p:nvSpPr>
        <p:spPr>
          <a:xfrm>
            <a:off x="1191412" y="5690000"/>
            <a:ext cx="84000" cy="820000"/>
          </a:xfrm>
          <a:prstGeom prst="rect">
            <a:avLst/>
          </a:prstGeom>
          <a:solidFill>
            <a:srgbClr val="0F766E"/>
          </a:solidFill>
        </p:spPr>
        <p:txBody>
          <a:bodyPr/>
          <a:lstStyle/>
          <a:p>
            <a:endParaRPr lang="en-US"/>
          </a:p>
        </p:txBody>
      </p:sp>
      <p:sp>
        <p:nvSpPr>
          <p:cNvPr id="62" name="Banner text"/>
          <p:cNvSpPr/>
          <p:nvPr/>
        </p:nvSpPr>
        <p:spPr>
          <a:xfrm>
            <a:off x="1461412" y="5600000"/>
            <a:ext cx="9309176" cy="1000000"/>
          </a:xfrm>
          <a:prstGeom prst="rect">
            <a:avLst/>
          </a:prstGeom>
          <a:noFill/>
        </p:spPr>
        <p:txBody>
          <a:bodyPr wrap="square" lIns="0" tIns="0" rIns="0" bIns="0" anchor="ctr"/>
          <a:lstStyle/>
          <a:p>
            <a:pPr>
              <a:spcAft>
                <a:spcPts val="400"/>
              </a:spcAft>
            </a:pPr>
            <a:r>
              <a:rPr lang="en-US" sz="1500" b="1">
                <a:solidFill>
                  <a:srgbClr val="385723"/>
                </a:solidFill>
              </a:rPr>
              <a:t>Project Goal</a:t>
            </a:r>
          </a:p>
          <a:p>
            <a:r>
              <a:rPr lang="en-US" sz="1600">
                <a:solidFill>
                  <a:srgbClr val="0B2138"/>
                </a:solidFill>
                <a:latin typeface="+mj-lt"/>
              </a:rPr>
              <a:t>Transform predictive machine learning into an interactive, explainable decision-support application.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40000"/>
            <a:ext cx="9905998" cy="700000"/>
          </a:xfrm>
        </p:spPr>
        <p:txBody>
          <a:bodyPr>
            <a:normAutofit/>
          </a:bodyPr>
          <a:lstStyle/>
          <a:p>
            <a:r>
              <a:rPr lang="en-US" sz="2800"/>
              <a:t>System Architecture</a:t>
            </a:r>
          </a:p>
        </p:txBody>
      </p:sp>
      <p:pic>
        <p:nvPicPr>
          <p:cNvPr id="10" name="System Architecture diagram" descr="Predictive Modeling architecture flow: public data sources, data preparation, Random Forest model, and mortality prediction feed into model explainability, country clustering, and an interactive dashboard, culminating in the Interactive Decision-Support Application."/>
          <p:cNvPicPr>
            <a:picLocks noChangeAspect="1"/>
          </p:cNvPicPr>
          <p:nvPr/>
        </p:nvPicPr>
        <p:blipFill>
          <a:blip r:embed="rId3"/>
          <a:stretch>
            <a:fillRect/>
          </a:stretch>
        </p:blipFill>
        <p:spPr>
          <a:xfrm>
            <a:off x="2570614" y="1000000"/>
            <a:ext cx="7050772" cy="5120000"/>
          </a:xfrm>
          <a:prstGeom prst="rect">
            <a:avLst/>
          </a:prstGeom>
        </p:spPr>
      </p:pic>
      <p:sp>
        <p:nvSpPr>
          <p:cNvPr id="20" name="Bottom callout"/>
          <p:cNvSpPr/>
          <p:nvPr/>
        </p:nvSpPr>
        <p:spPr>
          <a:xfrm>
            <a:off x="1141412" y="6230000"/>
            <a:ext cx="9909176" cy="580000"/>
          </a:xfrm>
          <a:prstGeom prst="roundRect">
            <a:avLst>
              <a:gd name="adj" fmla="val 12000"/>
            </a:avLst>
          </a:prstGeom>
          <a:solidFill>
            <a:srgbClr val="E2F0D9"/>
          </a:solidFill>
          <a:ln w="19050">
            <a:solidFill>
              <a:srgbClr val="9ACD4C"/>
            </a:solidFill>
          </a:ln>
        </p:spPr>
        <p:txBody>
          <a:bodyPr wrap="square" lIns="180000" tIns="0" rIns="180000" bIns="0" anchor="ctr"/>
          <a:lstStyle/>
          <a:p>
            <a:pPr algn="ctr"/>
            <a:r>
              <a:rPr lang="en-US" sz="1500">
                <a:solidFill>
                  <a:srgbClr val="0B2138"/>
                </a:solidFill>
                <a:latin typeface="+mj-lt"/>
              </a:rPr>
              <a:t>Integrates machine learning prediction, country clustering, and SHAP explainability into a unified interactive application.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40000"/>
            <a:ext cx="9905998" cy="700000"/>
          </a:xfrm>
        </p:spPr>
        <p:txBody>
          <a:bodyPr>
            <a:normAutofit/>
          </a:bodyPr>
          <a:lstStyle/>
          <a:p>
            <a:r>
              <a:rPr lang="en-US" sz="2800"/>
              <a:t>Country Exploration Through Clustering</a:t>
            </a:r>
          </a:p>
        </p:txBody>
      </p:sp>
      <p:pic>
        <p:nvPicPr>
          <p:cNvPr id="10" name="PCA cluster visualization" descr="K-Means clusters of countries shown on a two-dimensional PCA projection, with points colored by cluster."/>
          <p:cNvPicPr>
            <a:picLocks noChangeAspect="1"/>
          </p:cNvPicPr>
          <p:nvPr/>
        </p:nvPicPr>
        <p:blipFill>
          <a:blip r:embed="rId3"/>
          <a:stretch>
            <a:fillRect/>
          </a:stretch>
        </p:blipFill>
        <p:spPr>
          <a:xfrm>
            <a:off x="700004" y="1320000"/>
            <a:ext cx="4652824" cy="3256000"/>
          </a:xfrm>
          <a:prstGeom prst="rect">
            <a:avLst/>
          </a:prstGeom>
        </p:spPr>
      </p:pic>
      <p:pic>
        <p:nvPicPr>
          <p:cNvPr id="11" name="Interactive world cluster map" descr="World map with countries shaded by K-Means cluster assignment, showing groups of similar countries."/>
          <p:cNvPicPr>
            <a:picLocks noChangeAspect="1"/>
          </p:cNvPicPr>
          <p:nvPr/>
        </p:nvPicPr>
        <p:blipFill>
          <a:blip r:embed="rId4"/>
          <a:stretch>
            <a:fillRect/>
          </a:stretch>
        </p:blipFill>
        <p:spPr>
          <a:xfrm>
            <a:off x="5702828" y="1320000"/>
            <a:ext cx="5789168" cy="3256000"/>
          </a:xfrm>
          <a:prstGeom prst="rect">
            <a:avLst/>
          </a:prstGeom>
        </p:spPr>
      </p:pic>
      <p:sp>
        <p:nvSpPr>
          <p:cNvPr id="12" name="Left caption"/>
          <p:cNvSpPr/>
          <p:nvPr/>
        </p:nvSpPr>
        <p:spPr>
          <a:xfrm>
            <a:off x="700004" y="4640000"/>
            <a:ext cx="4652824" cy="380000"/>
          </a:xfrm>
          <a:prstGeom prst="rect">
            <a:avLst/>
          </a:prstGeom>
          <a:noFill/>
        </p:spPr>
        <p:txBody>
          <a:bodyPr wrap="square" lIns="0" tIns="0" rIns="0" bIns="0" anchor="ctr"/>
          <a:lstStyle/>
          <a:p>
            <a:pPr algn="ctr"/>
            <a:r>
              <a:rPr lang="en-US" sz="1250" i="1">
                <a:solidFill>
                  <a:srgbClr val="E2F0D9"/>
                </a:solidFill>
              </a:rPr>
              <a:t>K-Means Cluster Visualization (PCA Projection)</a:t>
            </a:r>
          </a:p>
        </p:txBody>
      </p:sp>
      <p:sp>
        <p:nvSpPr>
          <p:cNvPr id="13" name="Right caption"/>
          <p:cNvSpPr/>
          <p:nvPr/>
        </p:nvSpPr>
        <p:spPr>
          <a:xfrm>
            <a:off x="5702828" y="4640000"/>
            <a:ext cx="5789168" cy="380000"/>
          </a:xfrm>
          <a:prstGeom prst="rect">
            <a:avLst/>
          </a:prstGeom>
          <a:noFill/>
        </p:spPr>
        <p:txBody>
          <a:bodyPr wrap="square" lIns="0" tIns="0" rIns="0" bIns="0" anchor="ctr"/>
          <a:lstStyle/>
          <a:p>
            <a:pPr algn="ctr"/>
            <a:r>
              <a:rPr lang="en-US" sz="1250" i="1">
                <a:solidFill>
                  <a:srgbClr val="E2F0D9"/>
                </a:solidFill>
              </a:rPr>
              <a:t>Interactive Country Cluster Map</a:t>
            </a:r>
          </a:p>
        </p:txBody>
      </p:sp>
      <p:sp>
        <p:nvSpPr>
          <p:cNvPr id="20" name="Key Insight panel"/>
          <p:cNvSpPr/>
          <p:nvPr/>
        </p:nvSpPr>
        <p:spPr>
          <a:xfrm>
            <a:off x="1141412" y="5120000"/>
            <a:ext cx="9909176" cy="1150000"/>
          </a:xfrm>
          <a:prstGeom prst="roundRect">
            <a:avLst>
              <a:gd name="adj" fmla="val 7000"/>
            </a:avLst>
          </a:prstGeom>
          <a:solidFill>
            <a:srgbClr val="E2F0D9"/>
          </a:solidFill>
          <a:ln w="19050">
            <a:solidFill>
              <a:srgbClr val="9ACD4C"/>
            </a:solidFill>
          </a:ln>
        </p:spPr>
        <p:txBody>
          <a:bodyPr/>
          <a:lstStyle/>
          <a:p>
            <a:endParaRPr lang="en-US"/>
          </a:p>
        </p:txBody>
      </p:sp>
      <p:sp>
        <p:nvSpPr>
          <p:cNvPr id="21" name="Key Insight accent"/>
          <p:cNvSpPr/>
          <p:nvPr/>
        </p:nvSpPr>
        <p:spPr>
          <a:xfrm>
            <a:off x="1191412" y="5250000"/>
            <a:ext cx="84000" cy="890000"/>
          </a:xfrm>
          <a:prstGeom prst="rect">
            <a:avLst/>
          </a:prstGeom>
          <a:solidFill>
            <a:srgbClr val="0F766E"/>
          </a:solidFill>
        </p:spPr>
        <p:txBody>
          <a:bodyPr/>
          <a:lstStyle/>
          <a:p>
            <a:endParaRPr lang="en-US"/>
          </a:p>
        </p:txBody>
      </p:sp>
      <p:sp>
        <p:nvSpPr>
          <p:cNvPr id="22" name="Key Insight text"/>
          <p:cNvSpPr/>
          <p:nvPr/>
        </p:nvSpPr>
        <p:spPr>
          <a:xfrm>
            <a:off x="1461412" y="5170000"/>
            <a:ext cx="9309176" cy="1050000"/>
          </a:xfrm>
          <a:prstGeom prst="rect">
            <a:avLst/>
          </a:prstGeom>
          <a:noFill/>
        </p:spPr>
        <p:txBody>
          <a:bodyPr wrap="square" lIns="0" tIns="0" rIns="0" bIns="0" anchor="ctr"/>
          <a:lstStyle/>
          <a:p>
            <a:pPr>
              <a:spcAft>
                <a:spcPts val="600"/>
              </a:spcAft>
            </a:pPr>
            <a:r>
              <a:rPr lang="en-US" sz="1500" b="1">
                <a:solidFill>
                  <a:srgbClr val="385723"/>
                </a:solidFill>
              </a:rPr>
              <a:t>Key Insight</a:t>
            </a:r>
          </a:p>
          <a:p>
            <a:r>
              <a:rPr lang="en-US" sz="1400">
                <a:solidFill>
                  <a:srgbClr val="0B2138"/>
                </a:solidFill>
                <a:latin typeface="+mj-lt"/>
              </a:rPr>
              <a:t>Countries are grouped according to demographic, healthcare, economic, and public health characteristics. COVID-19 mortality was intentionally excluded from the clustering process.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40000"/>
            <a:ext cx="9905998" cy="700000"/>
          </a:xfrm>
        </p:spPr>
        <p:txBody>
          <a:bodyPr>
            <a:normAutofit/>
          </a:bodyPr>
          <a:lstStyle/>
          <a:p>
            <a:r>
              <a:rPr lang="en-US" sz="2800" dirty="0"/>
              <a:t>Explainable AI Using SHAP</a:t>
            </a:r>
          </a:p>
        </p:txBody>
      </p:sp>
      <p:pic>
        <p:nvPicPr>
          <p:cNvPr id="10" name="Global SHAP Feature Importance" descr="Horizontal bar chart of global SHAP feature importance, ranking predictors of COVID-19 mortality with Cases per Million and geographic region highest."/>
          <p:cNvPicPr>
            <a:picLocks noChangeAspect="1"/>
          </p:cNvPicPr>
          <p:nvPr/>
        </p:nvPicPr>
        <p:blipFill>
          <a:blip r:embed="rId3"/>
          <a:stretch>
            <a:fillRect/>
          </a:stretch>
        </p:blipFill>
        <p:spPr>
          <a:xfrm>
            <a:off x="1470340" y="1150000"/>
            <a:ext cx="5901320" cy="4300000"/>
          </a:xfrm>
          <a:prstGeom prst="rect">
            <a:avLst/>
          </a:prstGeom>
        </p:spPr>
      </p:pic>
      <p:sp>
        <p:nvSpPr>
          <p:cNvPr id="20" name="What SHAP Reveals panel"/>
          <p:cNvSpPr/>
          <p:nvPr/>
        </p:nvSpPr>
        <p:spPr>
          <a:xfrm>
            <a:off x="8000588" y="1150000"/>
            <a:ext cx="3050000" cy="3733640"/>
          </a:xfrm>
          <a:prstGeom prst="roundRect">
            <a:avLst>
              <a:gd name="adj" fmla="val 5000"/>
            </a:avLst>
          </a:prstGeom>
          <a:solidFill>
            <a:srgbClr val="FFFFFF"/>
          </a:solidFill>
          <a:ln w="12700">
            <a:solidFill>
              <a:srgbClr val="9ACD4C"/>
            </a:solidFill>
          </a:ln>
        </p:spPr>
        <p:txBody>
          <a:bodyPr/>
          <a:lstStyle/>
          <a:p>
            <a:endParaRPr lang="en-US"/>
          </a:p>
        </p:txBody>
      </p:sp>
      <p:sp>
        <p:nvSpPr>
          <p:cNvPr id="21" name="Panel heading"/>
          <p:cNvSpPr/>
          <p:nvPr/>
        </p:nvSpPr>
        <p:spPr>
          <a:xfrm>
            <a:off x="8280588" y="1470000"/>
            <a:ext cx="2490000" cy="520000"/>
          </a:xfrm>
          <a:prstGeom prst="rect">
            <a:avLst/>
          </a:prstGeom>
          <a:noFill/>
        </p:spPr>
        <p:txBody>
          <a:bodyPr wrap="square" lIns="0" tIns="0" rIns="0" bIns="0" anchor="ctr"/>
          <a:lstStyle/>
          <a:p>
            <a:r>
              <a:rPr lang="en-US" sz="1800" b="1">
                <a:solidFill>
                  <a:srgbClr val="0F766E"/>
                </a:solidFill>
                <a:latin typeface="+mj-lt"/>
              </a:rPr>
              <a:t>What SHAP Explains</a:t>
            </a:r>
          </a:p>
        </p:txBody>
      </p:sp>
      <p:sp>
        <p:nvSpPr>
          <p:cNvPr id="22" name="Panel bullets"/>
          <p:cNvSpPr/>
          <p:nvPr/>
        </p:nvSpPr>
        <p:spPr>
          <a:xfrm>
            <a:off x="8280588" y="2150000"/>
            <a:ext cx="2490000" cy="2733640"/>
          </a:xfrm>
          <a:prstGeom prst="rect">
            <a:avLst/>
          </a:prstGeom>
          <a:noFill/>
        </p:spPr>
        <p:txBody>
          <a:bodyPr wrap="square" lIns="0" tIns="0" rIns="0" bIns="0" anchor="t"/>
          <a:lstStyle/>
          <a:p>
            <a:pPr marL="228600" indent="-228600">
              <a:spcBef>
                <a:spcPts val="0"/>
              </a:spcBef>
              <a:spcAft>
                <a:spcPts val="1000"/>
              </a:spcAft>
              <a:buClr>
                <a:srgbClr val="9ACD4C"/>
              </a:buClr>
              <a:buFont typeface="Arial"/>
              <a:buChar char="•"/>
            </a:pPr>
            <a:r>
              <a:rPr lang="en-US" sz="1350" dirty="0">
                <a:solidFill>
                  <a:srgbClr val="0B2138"/>
                </a:solidFill>
              </a:rPr>
              <a:t>Explains individual predictions</a:t>
            </a:r>
          </a:p>
          <a:p>
            <a:pPr marL="228600" indent="-228600">
              <a:spcBef>
                <a:spcPts val="0"/>
              </a:spcBef>
              <a:spcAft>
                <a:spcPts val="1000"/>
              </a:spcAft>
              <a:buClr>
                <a:srgbClr val="9ACD4C"/>
              </a:buClr>
              <a:buFont typeface="Arial"/>
              <a:buChar char="•"/>
            </a:pPr>
            <a:r>
              <a:rPr lang="en-US" sz="1350" dirty="0">
                <a:solidFill>
                  <a:srgbClr val="0B2138"/>
                </a:solidFill>
              </a:rPr>
              <a:t>Quantifies feature contributions</a:t>
            </a:r>
          </a:p>
          <a:p>
            <a:pPr marL="228600" indent="-228600">
              <a:spcBef>
                <a:spcPts val="0"/>
              </a:spcBef>
              <a:spcAft>
                <a:spcPts val="1000"/>
              </a:spcAft>
              <a:buClr>
                <a:srgbClr val="9ACD4C"/>
              </a:buClr>
              <a:buFont typeface="Arial"/>
              <a:buChar char="•"/>
            </a:pPr>
            <a:r>
              <a:rPr lang="en-US" sz="1350" dirty="0">
                <a:solidFill>
                  <a:srgbClr val="0B2138"/>
                </a:solidFill>
              </a:rPr>
              <a:t>Identifies the most influential predictors</a:t>
            </a:r>
          </a:p>
          <a:p>
            <a:pPr marL="228600" indent="-228600">
              <a:spcBef>
                <a:spcPts val="0"/>
              </a:spcBef>
              <a:buClr>
                <a:srgbClr val="9ACD4C"/>
              </a:buClr>
              <a:buFont typeface="Arial"/>
              <a:buChar char="•"/>
            </a:pPr>
            <a:r>
              <a:rPr lang="en-US" sz="1350">
                <a:solidFill>
                  <a:srgbClr val="0B2138"/>
                </a:solidFill>
              </a:rPr>
              <a:t>Opens </a:t>
            </a:r>
            <a:r>
              <a:rPr lang="en-US" sz="1350" dirty="0">
                <a:solidFill>
                  <a:srgbClr val="0B2138"/>
                </a:solidFill>
              </a:rPr>
              <a:t>the Random Forest </a:t>
            </a:r>
            <a:r>
              <a:rPr lang="en-US" sz="1350">
                <a:solidFill>
                  <a:srgbClr val="0B2138"/>
                </a:solidFill>
              </a:rPr>
              <a:t>“black box”</a:t>
            </a:r>
            <a:endParaRPr lang="en-US" sz="1350" dirty="0">
              <a:solidFill>
                <a:srgbClr val="0B2138"/>
              </a:solidFill>
            </a:endParaRPr>
          </a:p>
        </p:txBody>
      </p:sp>
      <p:sp>
        <p:nvSpPr>
          <p:cNvPr id="30" name="Key Insight panel"/>
          <p:cNvSpPr/>
          <p:nvPr/>
        </p:nvSpPr>
        <p:spPr>
          <a:xfrm>
            <a:off x="1141412" y="5600000"/>
            <a:ext cx="9909176" cy="1000000"/>
          </a:xfrm>
          <a:prstGeom prst="roundRect">
            <a:avLst>
              <a:gd name="adj" fmla="val 7000"/>
            </a:avLst>
          </a:prstGeom>
          <a:solidFill>
            <a:srgbClr val="E2F0D9"/>
          </a:solidFill>
          <a:ln w="19050">
            <a:solidFill>
              <a:srgbClr val="9ACD4C"/>
            </a:solidFill>
          </a:ln>
        </p:spPr>
        <p:txBody>
          <a:bodyPr/>
          <a:lstStyle/>
          <a:p>
            <a:endParaRPr lang="en-US"/>
          </a:p>
        </p:txBody>
      </p:sp>
      <p:sp>
        <p:nvSpPr>
          <p:cNvPr id="31" name="Key Insight accent"/>
          <p:cNvSpPr/>
          <p:nvPr/>
        </p:nvSpPr>
        <p:spPr>
          <a:xfrm>
            <a:off x="1191412" y="5720000"/>
            <a:ext cx="84000" cy="760000"/>
          </a:xfrm>
          <a:prstGeom prst="rect">
            <a:avLst/>
          </a:prstGeom>
          <a:solidFill>
            <a:srgbClr val="0F766E"/>
          </a:solidFill>
        </p:spPr>
        <p:txBody>
          <a:bodyPr/>
          <a:lstStyle/>
          <a:p>
            <a:endParaRPr lang="en-US"/>
          </a:p>
        </p:txBody>
      </p:sp>
      <p:sp>
        <p:nvSpPr>
          <p:cNvPr id="32" name="Key Insight text"/>
          <p:cNvSpPr/>
          <p:nvPr/>
        </p:nvSpPr>
        <p:spPr>
          <a:xfrm>
            <a:off x="1461412" y="5650000"/>
            <a:ext cx="9309176" cy="900000"/>
          </a:xfrm>
          <a:prstGeom prst="rect">
            <a:avLst/>
          </a:prstGeom>
          <a:noFill/>
        </p:spPr>
        <p:txBody>
          <a:bodyPr wrap="square" lIns="0" tIns="0" rIns="0" bIns="0" anchor="ctr"/>
          <a:lstStyle/>
          <a:p>
            <a:pPr>
              <a:spcAft>
                <a:spcPts val="600"/>
              </a:spcAft>
            </a:pPr>
            <a:r>
              <a:rPr lang="en-US" sz="1500" b="1" dirty="0">
                <a:solidFill>
                  <a:srgbClr val="385723"/>
                </a:solidFill>
              </a:rPr>
              <a:t>Key Insight</a:t>
            </a:r>
          </a:p>
          <a:p>
            <a:r>
              <a:rPr lang="en-US" sz="1400" dirty="0">
                <a:solidFill>
                  <a:srgbClr val="0B2138"/>
                </a:solidFill>
                <a:latin typeface="+mj-lt"/>
              </a:rPr>
              <a:t>Cases per Million and geographic region are the model's strongest predictors of COVID-19 mortality. SHAP provides transparent explanations of how these and other variables influence model predictions.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40000"/>
            <a:ext cx="9905998" cy="700000"/>
          </a:xfrm>
        </p:spPr>
        <p:txBody>
          <a:bodyPr>
            <a:normAutofit/>
          </a:bodyPr>
          <a:lstStyle/>
          <a:p>
            <a:r>
              <a:rPr lang="en-US" sz="2800"/>
              <a:t>Interactive Dashboard</a:t>
            </a:r>
          </a:p>
        </p:txBody>
      </p:sp>
      <p:pic>
        <p:nvPicPr>
          <p:cNvPr id="10" name="Dashboard home screenshot" descr="Dashboard home page titled Explainable AI for Global COVID-19 Mortality, showing the key capabilities list, the module tab bar (Country Explorer, Global Map, Clusters, Explainability, Model Performance, Prediction, Dataset), and the Country Explorer country profile with demographic, healthcare, and COVID-19 metric tables."/>
          <p:cNvPicPr>
            <a:picLocks noChangeAspect="1"/>
          </p:cNvPicPr>
          <p:nvPr/>
        </p:nvPicPr>
        <p:blipFill>
          <a:blip r:embed="rId3"/>
          <a:stretch>
            <a:fillRect/>
          </a:stretch>
        </p:blipFill>
        <p:spPr>
          <a:xfrm>
            <a:off x="1084557" y="1060000"/>
            <a:ext cx="6737354" cy="4400000"/>
          </a:xfrm>
          <a:prstGeom prst="rect">
            <a:avLst/>
          </a:prstGeom>
          <a:ln w="9525">
            <a:solidFill>
              <a:srgbClr val="D0D7DE"/>
            </a:solidFill>
          </a:ln>
        </p:spPr>
      </p:pic>
      <p:sp>
        <p:nvSpPr>
          <p:cNvPr id="20" name="What SHAP Reveals panel"/>
          <p:cNvSpPr/>
          <p:nvPr/>
        </p:nvSpPr>
        <p:spPr>
          <a:xfrm>
            <a:off x="8000588" y="1060000"/>
            <a:ext cx="3046823" cy="3913782"/>
          </a:xfrm>
          <a:prstGeom prst="roundRect">
            <a:avLst>
              <a:gd name="adj" fmla="val 4000"/>
            </a:avLst>
          </a:prstGeom>
          <a:solidFill>
            <a:srgbClr val="FFFFFF"/>
          </a:solidFill>
          <a:ln w="12700">
            <a:solidFill>
              <a:srgbClr val="9ACD4C"/>
            </a:solidFill>
          </a:ln>
        </p:spPr>
        <p:txBody>
          <a:bodyPr/>
          <a:lstStyle/>
          <a:p>
            <a:endParaRPr lang="en-US"/>
          </a:p>
        </p:txBody>
      </p:sp>
      <p:sp>
        <p:nvSpPr>
          <p:cNvPr id="21" name="Panel heading"/>
          <p:cNvSpPr/>
          <p:nvPr/>
        </p:nvSpPr>
        <p:spPr>
          <a:xfrm>
            <a:off x="8280588" y="1470000"/>
            <a:ext cx="2490000" cy="520000"/>
          </a:xfrm>
          <a:prstGeom prst="rect">
            <a:avLst/>
          </a:prstGeom>
          <a:noFill/>
        </p:spPr>
        <p:txBody>
          <a:bodyPr wrap="square" lIns="0" tIns="0" rIns="0" bIns="0" anchor="ctr"/>
          <a:lstStyle/>
          <a:p>
            <a:r>
              <a:rPr lang="en-US" sz="1800" b="1">
                <a:solidFill>
                  <a:srgbClr val="0F766E"/>
                </a:solidFill>
                <a:latin typeface="+mj-lt"/>
              </a:rPr>
              <a:t>Dashboard Modules</a:t>
            </a:r>
          </a:p>
        </p:txBody>
      </p:sp>
      <p:sp>
        <p:nvSpPr>
          <p:cNvPr id="22" name="Panel bullets"/>
          <p:cNvSpPr/>
          <p:nvPr/>
        </p:nvSpPr>
        <p:spPr>
          <a:xfrm>
            <a:off x="8280588" y="2120000"/>
            <a:ext cx="2490000" cy="3260000"/>
          </a:xfrm>
          <a:prstGeom prst="rect">
            <a:avLst/>
          </a:prstGeom>
          <a:noFill/>
        </p:spPr>
        <p:txBody>
          <a:bodyPr wrap="square" lIns="0" tIns="0" rIns="0" bIns="0" anchor="t"/>
          <a:lstStyle/>
          <a:p>
            <a:pPr marL="228600" indent="-228600">
              <a:spcBef>
                <a:spcPts val="0"/>
              </a:spcBef>
              <a:spcAft>
                <a:spcPts val="600"/>
              </a:spcAft>
              <a:buClr>
                <a:srgbClr val="9ACD4C"/>
              </a:buClr>
              <a:buFont typeface="Arial"/>
              <a:buChar char="•"/>
            </a:pPr>
            <a:r>
              <a:rPr lang="en-US" sz="1300">
                <a:solidFill>
                  <a:srgbClr val="0B2138"/>
                </a:solidFill>
              </a:rPr>
              <a:t>Country Explorer</a:t>
            </a:r>
          </a:p>
          <a:p>
            <a:pPr marL="228600" indent="-228600">
              <a:spcBef>
                <a:spcPts val="0"/>
              </a:spcBef>
              <a:spcAft>
                <a:spcPts val="600"/>
              </a:spcAft>
              <a:buClr>
                <a:srgbClr val="9ACD4C"/>
              </a:buClr>
              <a:buFont typeface="Arial"/>
              <a:buChar char="•"/>
            </a:pPr>
            <a:r>
              <a:rPr lang="en-US" sz="1300">
                <a:solidFill>
                  <a:srgbClr val="0B2138"/>
                </a:solidFill>
              </a:rPr>
              <a:t>Global Map</a:t>
            </a:r>
          </a:p>
          <a:p>
            <a:pPr marL="228600" indent="-228600">
              <a:spcBef>
                <a:spcPts val="0"/>
              </a:spcBef>
              <a:spcAft>
                <a:spcPts val="600"/>
              </a:spcAft>
              <a:buClr>
                <a:srgbClr val="9ACD4C"/>
              </a:buClr>
              <a:buFont typeface="Arial"/>
              <a:buChar char="•"/>
            </a:pPr>
            <a:r>
              <a:rPr lang="en-US" sz="1300">
                <a:solidFill>
                  <a:srgbClr val="0B2138"/>
                </a:solidFill>
              </a:rPr>
              <a:t>Country Clusters</a:t>
            </a:r>
          </a:p>
          <a:p>
            <a:pPr marL="228600" indent="-228600">
              <a:spcBef>
                <a:spcPts val="0"/>
              </a:spcBef>
              <a:spcAft>
                <a:spcPts val="600"/>
              </a:spcAft>
              <a:buClr>
                <a:srgbClr val="9ACD4C"/>
              </a:buClr>
              <a:buFont typeface="Arial"/>
              <a:buChar char="•"/>
            </a:pPr>
            <a:r>
              <a:rPr lang="en-US" sz="1300">
                <a:solidFill>
                  <a:srgbClr val="0B2138"/>
                </a:solidFill>
              </a:rPr>
              <a:t>SHAP Explainability</a:t>
            </a:r>
          </a:p>
          <a:p>
            <a:pPr marL="228600" indent="-228600">
              <a:spcBef>
                <a:spcPts val="0"/>
              </a:spcBef>
              <a:spcAft>
                <a:spcPts val="600"/>
              </a:spcAft>
              <a:buClr>
                <a:srgbClr val="9ACD4C"/>
              </a:buClr>
              <a:buFont typeface="Arial"/>
              <a:buChar char="•"/>
            </a:pPr>
            <a:r>
              <a:rPr lang="en-US" sz="1300">
                <a:solidFill>
                  <a:srgbClr val="0B2138"/>
                </a:solidFill>
              </a:rPr>
              <a:t>Model Performance</a:t>
            </a:r>
          </a:p>
          <a:p>
            <a:pPr marL="228600" indent="-228600">
              <a:spcBef>
                <a:spcPts val="0"/>
              </a:spcBef>
              <a:spcAft>
                <a:spcPts val="600"/>
              </a:spcAft>
              <a:buClr>
                <a:srgbClr val="9ACD4C"/>
              </a:buClr>
              <a:buFont typeface="Arial"/>
              <a:buChar char="•"/>
            </a:pPr>
            <a:r>
              <a:rPr lang="en-US" sz="1300">
                <a:solidFill>
                  <a:srgbClr val="0B2138"/>
                </a:solidFill>
              </a:rPr>
              <a:t>Scenario Prediction</a:t>
            </a:r>
          </a:p>
          <a:p>
            <a:pPr marL="228600" indent="-228600">
              <a:spcBef>
                <a:spcPts val="0"/>
              </a:spcBef>
              <a:buClr>
                <a:srgbClr val="9ACD4C"/>
              </a:buClr>
              <a:buFont typeface="Arial"/>
              <a:buChar char="•"/>
            </a:pPr>
            <a:r>
              <a:rPr lang="en-US" sz="1300">
                <a:solidFill>
                  <a:srgbClr val="0B2138"/>
                </a:solidFill>
              </a:rPr>
              <a:t>Dataset Browser</a:t>
            </a:r>
          </a:p>
        </p:txBody>
      </p:sp>
      <p:sp>
        <p:nvSpPr>
          <p:cNvPr id="30" name="Key Insight panel"/>
          <p:cNvSpPr/>
          <p:nvPr/>
        </p:nvSpPr>
        <p:spPr>
          <a:xfrm>
            <a:off x="1141412" y="5600000"/>
            <a:ext cx="9909176" cy="1000000"/>
          </a:xfrm>
          <a:prstGeom prst="roundRect">
            <a:avLst>
              <a:gd name="adj" fmla="val 7000"/>
            </a:avLst>
          </a:prstGeom>
          <a:solidFill>
            <a:srgbClr val="E2F0D9"/>
          </a:solidFill>
          <a:ln w="19050">
            <a:solidFill>
              <a:srgbClr val="9ACD4C"/>
            </a:solidFill>
          </a:ln>
        </p:spPr>
        <p:txBody>
          <a:bodyPr/>
          <a:lstStyle/>
          <a:p>
            <a:endParaRPr lang="en-US"/>
          </a:p>
        </p:txBody>
      </p:sp>
      <p:sp>
        <p:nvSpPr>
          <p:cNvPr id="31" name="Key Insight accent"/>
          <p:cNvSpPr/>
          <p:nvPr/>
        </p:nvSpPr>
        <p:spPr>
          <a:xfrm>
            <a:off x="1191412" y="5720000"/>
            <a:ext cx="84000" cy="760000"/>
          </a:xfrm>
          <a:prstGeom prst="rect">
            <a:avLst/>
          </a:prstGeom>
          <a:solidFill>
            <a:srgbClr val="0F766E"/>
          </a:solidFill>
        </p:spPr>
        <p:txBody>
          <a:bodyPr/>
          <a:lstStyle/>
          <a:p>
            <a:endParaRPr lang="en-US"/>
          </a:p>
        </p:txBody>
      </p:sp>
      <p:sp>
        <p:nvSpPr>
          <p:cNvPr id="32" name="Key Insight text"/>
          <p:cNvSpPr/>
          <p:nvPr/>
        </p:nvSpPr>
        <p:spPr>
          <a:xfrm>
            <a:off x="1461412" y="5650000"/>
            <a:ext cx="9309176" cy="900000"/>
          </a:xfrm>
          <a:prstGeom prst="rect">
            <a:avLst/>
          </a:prstGeom>
          <a:noFill/>
        </p:spPr>
        <p:txBody>
          <a:bodyPr wrap="square" lIns="0" tIns="0" rIns="0" bIns="0" anchor="ctr"/>
          <a:lstStyle/>
          <a:p>
            <a:pPr>
              <a:spcAft>
                <a:spcPts val="600"/>
              </a:spcAft>
            </a:pPr>
            <a:r>
              <a:rPr lang="en-US" sz="1500" b="1">
                <a:solidFill>
                  <a:srgbClr val="385723"/>
                </a:solidFill>
              </a:rPr>
              <a:t>Key Insight</a:t>
            </a:r>
          </a:p>
          <a:p>
            <a:r>
              <a:rPr lang="en-US" sz="1400">
                <a:solidFill>
                  <a:srgbClr val="0B2138"/>
                </a:solidFill>
                <a:latin typeface="+mj-lt"/>
              </a:rPr>
              <a:t>The dashboard integrates multiple analytical tools into a single interface, allowing users to move seamlessly between exploration, prediction, clustering, and explainable 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40000"/>
            <a:ext cx="9905998" cy="700000"/>
          </a:xfrm>
        </p:spPr>
        <p:txBody>
          <a:bodyPr>
            <a:normAutofit/>
          </a:bodyPr>
          <a:lstStyle/>
          <a:p>
            <a:r>
              <a:rPr lang="en-US" sz="2800"/>
              <a:t>Interactive Scenario Analysis</a:t>
            </a:r>
          </a:p>
        </p:txBody>
      </p:sp>
      <p:pic>
        <p:nvPicPr>
          <p:cNvPr id="10" name="Prediction tab screenshot" descr="Interactive Prediction tab of the decision-support application, showing changed inputs, direct effects, model interactions, prediction explanation, and a SHAP waterfall chart."/>
          <p:cNvPicPr>
            <a:picLocks noChangeAspect="1"/>
          </p:cNvPicPr>
          <p:nvPr/>
        </p:nvPicPr>
        <p:blipFill>
          <a:blip r:embed="rId3"/>
          <a:stretch>
            <a:fillRect/>
          </a:stretch>
        </p:blipFill>
        <p:spPr>
          <a:xfrm>
            <a:off x="1141412" y="1250000"/>
            <a:ext cx="6558588" cy="4030267"/>
          </a:xfrm>
          <a:prstGeom prst="rect">
            <a:avLst/>
          </a:prstGeom>
        </p:spPr>
      </p:pic>
      <p:sp>
        <p:nvSpPr>
          <p:cNvPr id="20" name="What SHAP Reveals panel"/>
          <p:cNvSpPr/>
          <p:nvPr/>
        </p:nvSpPr>
        <p:spPr>
          <a:xfrm>
            <a:off x="8000588" y="1150000"/>
            <a:ext cx="3050000" cy="3733640"/>
          </a:xfrm>
          <a:prstGeom prst="roundRect">
            <a:avLst>
              <a:gd name="adj" fmla="val 5000"/>
            </a:avLst>
          </a:prstGeom>
          <a:solidFill>
            <a:srgbClr val="FFFFFF"/>
          </a:solidFill>
          <a:ln w="12700">
            <a:solidFill>
              <a:srgbClr val="9ACD4C"/>
            </a:solidFill>
          </a:ln>
        </p:spPr>
        <p:txBody>
          <a:bodyPr/>
          <a:lstStyle/>
          <a:p>
            <a:endParaRPr lang="en-US"/>
          </a:p>
        </p:txBody>
      </p:sp>
      <p:sp>
        <p:nvSpPr>
          <p:cNvPr id="21" name="Panel heading"/>
          <p:cNvSpPr/>
          <p:nvPr/>
        </p:nvSpPr>
        <p:spPr>
          <a:xfrm>
            <a:off x="8280588" y="1470000"/>
            <a:ext cx="2490000" cy="520000"/>
          </a:xfrm>
          <a:prstGeom prst="rect">
            <a:avLst/>
          </a:prstGeom>
          <a:noFill/>
        </p:spPr>
        <p:txBody>
          <a:bodyPr wrap="square" lIns="0" tIns="0" rIns="0" bIns="0" anchor="ctr"/>
          <a:lstStyle/>
          <a:p>
            <a:r>
              <a:rPr lang="en-US" sz="1800" b="1">
                <a:solidFill>
                  <a:srgbClr val="0F766E"/>
                </a:solidFill>
                <a:latin typeface="+mj-lt"/>
              </a:rPr>
              <a:t>What Users Can Do</a:t>
            </a:r>
          </a:p>
        </p:txBody>
      </p:sp>
      <p:sp>
        <p:nvSpPr>
          <p:cNvPr id="22" name="Panel bullets"/>
          <p:cNvSpPr/>
          <p:nvPr/>
        </p:nvSpPr>
        <p:spPr>
          <a:xfrm>
            <a:off x="8280588" y="2150000"/>
            <a:ext cx="2490000" cy="2733640"/>
          </a:xfrm>
          <a:prstGeom prst="rect">
            <a:avLst/>
          </a:prstGeom>
          <a:noFill/>
        </p:spPr>
        <p:txBody>
          <a:bodyPr wrap="square" lIns="0" tIns="0" rIns="0" bIns="0" anchor="t"/>
          <a:lstStyle/>
          <a:p>
            <a:pPr marL="228600" indent="-228600">
              <a:spcBef>
                <a:spcPts val="0"/>
              </a:spcBef>
              <a:spcAft>
                <a:spcPts val="700"/>
              </a:spcAft>
              <a:buClr>
                <a:srgbClr val="9ACD4C"/>
              </a:buClr>
              <a:buFont typeface="Arial"/>
              <a:buChar char="•"/>
            </a:pPr>
            <a:r>
              <a:rPr lang="en-US" sz="1300">
                <a:solidFill>
                  <a:srgbClr val="0B2138"/>
                </a:solidFill>
              </a:rPr>
              <a:t>Select any country</a:t>
            </a:r>
          </a:p>
          <a:p>
            <a:pPr marL="228600" indent="-228600">
              <a:spcBef>
                <a:spcPts val="0"/>
              </a:spcBef>
              <a:spcAft>
                <a:spcPts val="700"/>
              </a:spcAft>
              <a:buClr>
                <a:srgbClr val="9ACD4C"/>
              </a:buClr>
              <a:buFont typeface="Arial"/>
              <a:buChar char="•"/>
            </a:pPr>
            <a:r>
              <a:rPr lang="en-US" sz="1300">
                <a:solidFill>
                  <a:srgbClr val="0B2138"/>
                </a:solidFill>
              </a:rPr>
              <a:t>Modify demographic, healthcare, economic, or policy variables</a:t>
            </a:r>
          </a:p>
          <a:p>
            <a:pPr marL="228600" indent="-228600">
              <a:spcBef>
                <a:spcPts val="0"/>
              </a:spcBef>
              <a:spcAft>
                <a:spcPts val="700"/>
              </a:spcAft>
              <a:buClr>
                <a:srgbClr val="9ACD4C"/>
              </a:buClr>
              <a:buFont typeface="Arial"/>
              <a:buChar char="•"/>
            </a:pPr>
            <a:r>
              <a:rPr lang="en-US" sz="1300">
                <a:solidFill>
                  <a:srgbClr val="0B2138"/>
                </a:solidFill>
              </a:rPr>
              <a:t>Generate a new mortality prediction instantly</a:t>
            </a:r>
          </a:p>
          <a:p>
            <a:pPr marL="228600" indent="-228600">
              <a:spcBef>
                <a:spcPts val="0"/>
              </a:spcBef>
              <a:spcAft>
                <a:spcPts val="700"/>
              </a:spcAft>
              <a:buClr>
                <a:srgbClr val="9ACD4C"/>
              </a:buClr>
              <a:buFont typeface="Arial"/>
              <a:buChar char="•"/>
            </a:pPr>
            <a:r>
              <a:rPr lang="en-US" sz="1300">
                <a:solidFill>
                  <a:srgbClr val="0B2138"/>
                </a:solidFill>
              </a:rPr>
              <a:t>Understand direct effects and model interactions</a:t>
            </a:r>
          </a:p>
          <a:p>
            <a:pPr marL="228600" indent="-228600">
              <a:spcBef>
                <a:spcPts val="0"/>
              </a:spcBef>
              <a:buClr>
                <a:srgbClr val="9ACD4C"/>
              </a:buClr>
              <a:buFont typeface="Arial"/>
              <a:buChar char="•"/>
            </a:pPr>
            <a:r>
              <a:rPr lang="en-US" sz="1300">
                <a:solidFill>
                  <a:srgbClr val="0B2138"/>
                </a:solidFill>
              </a:rPr>
              <a:t>Explain every prediction using SHAP</a:t>
            </a:r>
          </a:p>
        </p:txBody>
      </p:sp>
      <p:sp>
        <p:nvSpPr>
          <p:cNvPr id="30" name="Key Insight panel"/>
          <p:cNvSpPr/>
          <p:nvPr/>
        </p:nvSpPr>
        <p:spPr>
          <a:xfrm>
            <a:off x="1141412" y="5600000"/>
            <a:ext cx="9909176" cy="1000000"/>
          </a:xfrm>
          <a:prstGeom prst="roundRect">
            <a:avLst>
              <a:gd name="adj" fmla="val 7000"/>
            </a:avLst>
          </a:prstGeom>
          <a:solidFill>
            <a:srgbClr val="E2F0D9"/>
          </a:solidFill>
          <a:ln w="19050">
            <a:solidFill>
              <a:srgbClr val="9ACD4C"/>
            </a:solidFill>
          </a:ln>
        </p:spPr>
        <p:txBody>
          <a:bodyPr/>
          <a:lstStyle/>
          <a:p>
            <a:endParaRPr lang="en-US"/>
          </a:p>
        </p:txBody>
      </p:sp>
      <p:sp>
        <p:nvSpPr>
          <p:cNvPr id="31" name="Key Insight accent"/>
          <p:cNvSpPr/>
          <p:nvPr/>
        </p:nvSpPr>
        <p:spPr>
          <a:xfrm>
            <a:off x="1191412" y="5720000"/>
            <a:ext cx="84000" cy="760000"/>
          </a:xfrm>
          <a:prstGeom prst="rect">
            <a:avLst/>
          </a:prstGeom>
          <a:solidFill>
            <a:srgbClr val="0F766E"/>
          </a:solidFill>
        </p:spPr>
        <p:txBody>
          <a:bodyPr/>
          <a:lstStyle/>
          <a:p>
            <a:endParaRPr lang="en-US"/>
          </a:p>
        </p:txBody>
      </p:sp>
      <p:sp>
        <p:nvSpPr>
          <p:cNvPr id="32" name="Key Insight text"/>
          <p:cNvSpPr/>
          <p:nvPr/>
        </p:nvSpPr>
        <p:spPr>
          <a:xfrm>
            <a:off x="1461412" y="5650000"/>
            <a:ext cx="9309176" cy="900000"/>
          </a:xfrm>
          <a:prstGeom prst="rect">
            <a:avLst/>
          </a:prstGeom>
          <a:noFill/>
        </p:spPr>
        <p:txBody>
          <a:bodyPr wrap="square" lIns="0" tIns="0" rIns="0" bIns="0" anchor="ctr"/>
          <a:lstStyle/>
          <a:p>
            <a:pPr>
              <a:spcAft>
                <a:spcPts val="600"/>
              </a:spcAft>
            </a:pPr>
            <a:r>
              <a:rPr lang="en-US" sz="1500" b="1" dirty="0">
                <a:solidFill>
                  <a:srgbClr val="385723"/>
                </a:solidFill>
              </a:rPr>
              <a:t>Key Insight</a:t>
            </a:r>
          </a:p>
          <a:p>
            <a:r>
              <a:rPr lang="en-US" sz="1400" b="1" dirty="0">
                <a:solidFill>
                  <a:srgbClr val="0B2138"/>
                </a:solidFill>
                <a:latin typeface="+mj-lt"/>
              </a:rPr>
              <a:t>Users can test hypothetical scenarios and immediately understand not only how the prediction changes, but which variables are responsible for that change.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240000"/>
            <a:ext cx="9905998" cy="700000"/>
          </a:xfrm>
        </p:spPr>
        <p:txBody>
          <a:bodyPr>
            <a:normAutofit/>
          </a:bodyPr>
          <a:lstStyle/>
          <a:p>
            <a:r>
              <a:rPr lang="en-US" sz="2800" dirty="0"/>
              <a:t>Project DELIVERABLES</a:t>
            </a:r>
          </a:p>
        </p:txBody>
      </p:sp>
      <p:sp>
        <p:nvSpPr>
          <p:cNvPr id="3" name="Contributions list"/>
          <p:cNvSpPr/>
          <p:nvPr/>
        </p:nvSpPr>
        <p:spPr>
          <a:xfrm>
            <a:off x="1141412" y="1180000"/>
            <a:ext cx="5600000" cy="4320000"/>
          </a:xfrm>
          <a:prstGeom prst="rect">
            <a:avLst/>
          </a:prstGeom>
          <a:noFill/>
        </p:spPr>
        <p:txBody>
          <a:bodyPr wrap="square" lIns="0" tIns="0" rIns="0" bIns="0" anchor="t"/>
          <a:lstStyle/>
          <a:p>
            <a:pPr>
              <a:spcBef>
                <a:spcPts val="0"/>
              </a:spcBef>
              <a:spcAft>
                <a:spcPts val="200"/>
              </a:spcAft>
            </a:pPr>
            <a:r>
              <a:rPr lang="en-US" sz="1500" b="1">
                <a:solidFill>
                  <a:srgbClr val="9ACD4C"/>
                </a:solidFill>
                <a:latin typeface="+mj-lt"/>
              </a:rPr>
              <a:t>Data Engineering</a:t>
            </a:r>
          </a:p>
          <a:p>
            <a:pPr marL="228600" indent="-228600">
              <a:spcAft>
                <a:spcPts val="150"/>
              </a:spcAft>
              <a:buClr>
                <a:srgbClr val="9ACD4C"/>
              </a:buClr>
              <a:buFont typeface="Arial"/>
              <a:buChar char="•"/>
            </a:pPr>
            <a:r>
              <a:rPr lang="en-US" sz="1200">
                <a:solidFill>
                  <a:srgbClr val="E2F0D9"/>
                </a:solidFill>
                <a:latin typeface="+mj-lt"/>
              </a:rPr>
              <a:t>Integrated public datasets</a:t>
            </a:r>
          </a:p>
          <a:p>
            <a:pPr marL="228600" indent="-228600">
              <a:spcAft>
                <a:spcPts val="150"/>
              </a:spcAft>
              <a:buClr>
                <a:srgbClr val="9ACD4C"/>
              </a:buClr>
              <a:buFont typeface="Arial"/>
              <a:buChar char="•"/>
            </a:pPr>
            <a:r>
              <a:rPr lang="en-US" sz="1200">
                <a:solidFill>
                  <a:srgbClr val="E2F0D9"/>
                </a:solidFill>
                <a:latin typeface="+mj-lt"/>
              </a:rPr>
              <a:t>Engineered country-level features</a:t>
            </a:r>
          </a:p>
          <a:p>
            <a:pPr>
              <a:spcBef>
                <a:spcPts val="700"/>
              </a:spcBef>
              <a:spcAft>
                <a:spcPts val="200"/>
              </a:spcAft>
            </a:pPr>
            <a:r>
              <a:rPr lang="en-US" sz="1500" b="1">
                <a:solidFill>
                  <a:srgbClr val="9ACD4C"/>
                </a:solidFill>
                <a:latin typeface="+mj-lt"/>
              </a:rPr>
              <a:t>Machine Learning</a:t>
            </a:r>
          </a:p>
          <a:p>
            <a:pPr marL="228600" indent="-228600">
              <a:spcAft>
                <a:spcPts val="150"/>
              </a:spcAft>
              <a:buClr>
                <a:srgbClr val="9ACD4C"/>
              </a:buClr>
              <a:buFont typeface="Arial"/>
              <a:buChar char="•"/>
            </a:pPr>
            <a:r>
              <a:rPr lang="en-US" sz="1200">
                <a:solidFill>
                  <a:srgbClr val="E2F0D9"/>
                </a:solidFill>
                <a:latin typeface="+mj-lt"/>
              </a:rPr>
              <a:t>Random Forest mortality prediction</a:t>
            </a:r>
          </a:p>
          <a:p>
            <a:pPr marL="228600" indent="-228600">
              <a:spcAft>
                <a:spcPts val="150"/>
              </a:spcAft>
              <a:buClr>
                <a:srgbClr val="9ACD4C"/>
              </a:buClr>
              <a:buFont typeface="Arial"/>
              <a:buChar char="•"/>
            </a:pPr>
            <a:r>
              <a:rPr lang="en-US" sz="1200">
                <a:solidFill>
                  <a:srgbClr val="E2F0D9"/>
                </a:solidFill>
                <a:latin typeface="+mj-lt"/>
              </a:rPr>
              <a:t>K-Means country clustering</a:t>
            </a:r>
          </a:p>
          <a:p>
            <a:pPr>
              <a:spcBef>
                <a:spcPts val="700"/>
              </a:spcBef>
              <a:spcAft>
                <a:spcPts val="200"/>
              </a:spcAft>
            </a:pPr>
            <a:r>
              <a:rPr lang="en-US" sz="1500" b="1">
                <a:solidFill>
                  <a:srgbClr val="9ACD4C"/>
                </a:solidFill>
                <a:latin typeface="+mj-lt"/>
              </a:rPr>
              <a:t>Explainable AI</a:t>
            </a:r>
          </a:p>
          <a:p>
            <a:pPr marL="228600" indent="-228600">
              <a:spcAft>
                <a:spcPts val="150"/>
              </a:spcAft>
              <a:buClr>
                <a:srgbClr val="9ACD4C"/>
              </a:buClr>
              <a:buFont typeface="Arial"/>
              <a:buChar char="•"/>
            </a:pPr>
            <a:r>
              <a:rPr lang="en-US" sz="1200">
                <a:solidFill>
                  <a:srgbClr val="E2F0D9"/>
                </a:solidFill>
                <a:latin typeface="+mj-lt"/>
              </a:rPr>
              <a:t>Global and local SHAP explanations</a:t>
            </a:r>
          </a:p>
          <a:p>
            <a:pPr marL="228600" indent="-228600">
              <a:spcAft>
                <a:spcPts val="150"/>
              </a:spcAft>
              <a:buClr>
                <a:srgbClr val="9ACD4C"/>
              </a:buClr>
              <a:buFont typeface="Arial"/>
              <a:buChar char="•"/>
            </a:pPr>
            <a:r>
              <a:rPr lang="en-US" sz="1200">
                <a:solidFill>
                  <a:srgbClr val="E2F0D9"/>
                </a:solidFill>
                <a:latin typeface="+mj-lt"/>
              </a:rPr>
              <a:t>Feature interaction analysis</a:t>
            </a:r>
          </a:p>
          <a:p>
            <a:pPr>
              <a:spcBef>
                <a:spcPts val="700"/>
              </a:spcBef>
              <a:spcAft>
                <a:spcPts val="200"/>
              </a:spcAft>
            </a:pPr>
            <a:r>
              <a:rPr lang="en-US" sz="1500" b="1">
                <a:solidFill>
                  <a:srgbClr val="9ACD4C"/>
                </a:solidFill>
                <a:latin typeface="+mj-lt"/>
              </a:rPr>
              <a:t>Interactive Dashboard</a:t>
            </a:r>
          </a:p>
          <a:p>
            <a:pPr marL="228600" indent="-228600">
              <a:spcAft>
                <a:spcPts val="150"/>
              </a:spcAft>
              <a:buClr>
                <a:srgbClr val="9ACD4C"/>
              </a:buClr>
              <a:buFont typeface="Arial"/>
              <a:buChar char="•"/>
            </a:pPr>
            <a:r>
              <a:rPr lang="en-US" sz="1200">
                <a:solidFill>
                  <a:srgbClr val="E2F0D9"/>
                </a:solidFill>
                <a:latin typeface="+mj-lt"/>
              </a:rPr>
              <a:t>Streamlit application</a:t>
            </a:r>
          </a:p>
          <a:p>
            <a:pPr marL="228600" indent="-228600">
              <a:buClr>
                <a:srgbClr val="9ACD4C"/>
              </a:buClr>
              <a:buFont typeface="Arial"/>
              <a:buChar char="•"/>
            </a:pPr>
            <a:r>
              <a:rPr lang="en-US" sz="1200">
                <a:solidFill>
                  <a:srgbClr val="E2F0D9"/>
                </a:solidFill>
                <a:latin typeface="+mj-lt"/>
              </a:rPr>
              <a:t>Seven integrated analytical modules</a:t>
            </a:r>
          </a:p>
        </p:txBody>
      </p:sp>
      <p:sp>
        <p:nvSpPr>
          <p:cNvPr id="40" name="Flow 1 Public Data"/>
          <p:cNvSpPr/>
          <p:nvPr/>
        </p:nvSpPr>
        <p:spPr>
          <a:xfrm>
            <a:off x="7700000" y="1460000"/>
            <a:ext cx="3000000" cy="440000"/>
          </a:xfrm>
          <a:prstGeom prst="roundRect">
            <a:avLst>
              <a:gd name="adj" fmla="val 14000"/>
            </a:avLst>
          </a:prstGeom>
          <a:solidFill>
            <a:srgbClr val="A6D96A"/>
          </a:solidFill>
          <a:ln>
            <a:noFill/>
          </a:ln>
        </p:spPr>
        <p:txBody>
          <a:bodyPr wrap="square" lIns="90000" tIns="0" rIns="90000" bIns="0" anchor="ctr"/>
          <a:lstStyle/>
          <a:p>
            <a:pPr algn="ctr"/>
            <a:r>
              <a:rPr lang="en-US" sz="1300" b="1">
                <a:solidFill>
                  <a:srgbClr val="0B2138"/>
                </a:solidFill>
                <a:latin typeface="+mj-lt"/>
              </a:rPr>
              <a:t>Public Data</a:t>
            </a:r>
          </a:p>
        </p:txBody>
      </p:sp>
      <p:sp>
        <p:nvSpPr>
          <p:cNvPr id="50" name="Arrow 1"/>
          <p:cNvSpPr/>
          <p:nvPr/>
        </p:nvSpPr>
        <p:spPr>
          <a:xfrm>
            <a:off x="9090000" y="1930000"/>
            <a:ext cx="220000" cy="180000"/>
          </a:xfrm>
          <a:prstGeom prst="downArrow">
            <a:avLst/>
          </a:prstGeom>
          <a:solidFill>
            <a:srgbClr val="9ACD4C"/>
          </a:solidFill>
          <a:ln>
            <a:noFill/>
          </a:ln>
        </p:spPr>
        <p:txBody>
          <a:bodyPr/>
          <a:lstStyle/>
          <a:p>
            <a:endParaRPr lang="en-US"/>
          </a:p>
        </p:txBody>
      </p:sp>
      <p:sp>
        <p:nvSpPr>
          <p:cNvPr id="41" name="Flow 2 Feature Engineering"/>
          <p:cNvSpPr/>
          <p:nvPr/>
        </p:nvSpPr>
        <p:spPr>
          <a:xfrm>
            <a:off x="7700000" y="2140000"/>
            <a:ext cx="3000000" cy="440000"/>
          </a:xfrm>
          <a:prstGeom prst="roundRect">
            <a:avLst>
              <a:gd name="adj" fmla="val 14000"/>
            </a:avLst>
          </a:prstGeom>
          <a:solidFill>
            <a:srgbClr val="1FA592"/>
          </a:solidFill>
          <a:ln>
            <a:noFill/>
          </a:ln>
        </p:spPr>
        <p:txBody>
          <a:bodyPr wrap="square" lIns="90000" tIns="0" rIns="90000" bIns="0" anchor="ctr"/>
          <a:lstStyle/>
          <a:p>
            <a:pPr algn="ctr"/>
            <a:r>
              <a:rPr lang="en-US" sz="1300" b="1">
                <a:solidFill>
                  <a:srgbClr val="FFFFFF"/>
                </a:solidFill>
                <a:latin typeface="+mj-lt"/>
              </a:rPr>
              <a:t>Feature Engineering</a:t>
            </a:r>
          </a:p>
        </p:txBody>
      </p:sp>
      <p:sp>
        <p:nvSpPr>
          <p:cNvPr id="51" name="Arrow 2"/>
          <p:cNvSpPr/>
          <p:nvPr/>
        </p:nvSpPr>
        <p:spPr>
          <a:xfrm>
            <a:off x="9090000" y="2610000"/>
            <a:ext cx="220000" cy="180000"/>
          </a:xfrm>
          <a:prstGeom prst="downArrow">
            <a:avLst/>
          </a:prstGeom>
          <a:solidFill>
            <a:srgbClr val="9ACD4C"/>
          </a:solidFill>
          <a:ln>
            <a:noFill/>
          </a:ln>
        </p:spPr>
        <p:txBody>
          <a:bodyPr/>
          <a:lstStyle/>
          <a:p>
            <a:endParaRPr lang="en-US"/>
          </a:p>
        </p:txBody>
      </p:sp>
      <p:sp>
        <p:nvSpPr>
          <p:cNvPr id="42" name="Flow 3 Machine Learning"/>
          <p:cNvSpPr/>
          <p:nvPr/>
        </p:nvSpPr>
        <p:spPr>
          <a:xfrm>
            <a:off x="7700000" y="2820000"/>
            <a:ext cx="3000000" cy="440000"/>
          </a:xfrm>
          <a:prstGeom prst="roundRect">
            <a:avLst>
              <a:gd name="adj" fmla="val 14000"/>
            </a:avLst>
          </a:prstGeom>
          <a:solidFill>
            <a:srgbClr val="135E87"/>
          </a:solidFill>
          <a:ln>
            <a:noFill/>
          </a:ln>
        </p:spPr>
        <p:txBody>
          <a:bodyPr wrap="square" lIns="90000" tIns="0" rIns="90000" bIns="0" anchor="ctr"/>
          <a:lstStyle/>
          <a:p>
            <a:pPr algn="ctr"/>
            <a:r>
              <a:rPr lang="en-US" sz="1300" b="1">
                <a:solidFill>
                  <a:srgbClr val="FFFFFF"/>
                </a:solidFill>
                <a:latin typeface="+mj-lt"/>
              </a:rPr>
              <a:t>Machine Learning</a:t>
            </a:r>
          </a:p>
        </p:txBody>
      </p:sp>
      <p:sp>
        <p:nvSpPr>
          <p:cNvPr id="52" name="Arrow 3"/>
          <p:cNvSpPr/>
          <p:nvPr/>
        </p:nvSpPr>
        <p:spPr>
          <a:xfrm>
            <a:off x="9090000" y="3290000"/>
            <a:ext cx="220000" cy="180000"/>
          </a:xfrm>
          <a:prstGeom prst="downArrow">
            <a:avLst/>
          </a:prstGeom>
          <a:solidFill>
            <a:srgbClr val="9ACD4C"/>
          </a:solidFill>
          <a:ln>
            <a:noFill/>
          </a:ln>
        </p:spPr>
        <p:txBody>
          <a:bodyPr/>
          <a:lstStyle/>
          <a:p>
            <a:endParaRPr lang="en-US"/>
          </a:p>
        </p:txBody>
      </p:sp>
      <p:sp>
        <p:nvSpPr>
          <p:cNvPr id="43" name="Flow 4 Explainable AI"/>
          <p:cNvSpPr/>
          <p:nvPr/>
        </p:nvSpPr>
        <p:spPr>
          <a:xfrm>
            <a:off x="7700000" y="3500000"/>
            <a:ext cx="3000000" cy="440000"/>
          </a:xfrm>
          <a:prstGeom prst="roundRect">
            <a:avLst>
              <a:gd name="adj" fmla="val 14000"/>
            </a:avLst>
          </a:prstGeom>
          <a:solidFill>
            <a:srgbClr val="0F766E"/>
          </a:solidFill>
          <a:ln>
            <a:noFill/>
          </a:ln>
        </p:spPr>
        <p:txBody>
          <a:bodyPr wrap="square" lIns="90000" tIns="0" rIns="90000" bIns="0" anchor="ctr"/>
          <a:lstStyle/>
          <a:p>
            <a:pPr algn="ctr"/>
            <a:r>
              <a:rPr lang="en-US" sz="1300" b="1">
                <a:solidFill>
                  <a:srgbClr val="FFFFFF"/>
                </a:solidFill>
                <a:latin typeface="+mj-lt"/>
              </a:rPr>
              <a:t>Explainable AI</a:t>
            </a:r>
          </a:p>
        </p:txBody>
      </p:sp>
      <p:sp>
        <p:nvSpPr>
          <p:cNvPr id="53" name="Arrow 4"/>
          <p:cNvSpPr/>
          <p:nvPr/>
        </p:nvSpPr>
        <p:spPr>
          <a:xfrm>
            <a:off x="9090000" y="3970000"/>
            <a:ext cx="220000" cy="180000"/>
          </a:xfrm>
          <a:prstGeom prst="downArrow">
            <a:avLst/>
          </a:prstGeom>
          <a:solidFill>
            <a:srgbClr val="9ACD4C"/>
          </a:solidFill>
          <a:ln>
            <a:noFill/>
          </a:ln>
        </p:spPr>
        <p:txBody>
          <a:bodyPr/>
          <a:lstStyle/>
          <a:p>
            <a:endParaRPr lang="en-US"/>
          </a:p>
        </p:txBody>
      </p:sp>
      <p:sp>
        <p:nvSpPr>
          <p:cNvPr id="44" name="Flow 5 Interactive Dashboard"/>
          <p:cNvSpPr/>
          <p:nvPr/>
        </p:nvSpPr>
        <p:spPr>
          <a:xfrm>
            <a:off x="7700000" y="4180000"/>
            <a:ext cx="3000000" cy="440000"/>
          </a:xfrm>
          <a:prstGeom prst="roundRect">
            <a:avLst>
              <a:gd name="adj" fmla="val 14000"/>
            </a:avLst>
          </a:prstGeom>
          <a:solidFill>
            <a:srgbClr val="1FA592"/>
          </a:solidFill>
          <a:ln>
            <a:noFill/>
          </a:ln>
        </p:spPr>
        <p:txBody>
          <a:bodyPr wrap="square" lIns="90000" tIns="0" rIns="90000" bIns="0" anchor="ctr"/>
          <a:lstStyle/>
          <a:p>
            <a:pPr algn="ctr"/>
            <a:r>
              <a:rPr lang="en-US" sz="1300" b="1">
                <a:solidFill>
                  <a:srgbClr val="FFFFFF"/>
                </a:solidFill>
                <a:latin typeface="+mj-lt"/>
              </a:rPr>
              <a:t>Interactive Dashboard</a:t>
            </a:r>
          </a:p>
        </p:txBody>
      </p:sp>
      <p:sp>
        <p:nvSpPr>
          <p:cNvPr id="54" name="Arrow 5"/>
          <p:cNvSpPr/>
          <p:nvPr/>
        </p:nvSpPr>
        <p:spPr>
          <a:xfrm>
            <a:off x="9090000" y="4650000"/>
            <a:ext cx="220000" cy="180000"/>
          </a:xfrm>
          <a:prstGeom prst="downArrow">
            <a:avLst/>
          </a:prstGeom>
          <a:solidFill>
            <a:srgbClr val="9ACD4C"/>
          </a:solidFill>
          <a:ln>
            <a:noFill/>
          </a:ln>
        </p:spPr>
        <p:txBody>
          <a:bodyPr/>
          <a:lstStyle/>
          <a:p>
            <a:endParaRPr lang="en-US"/>
          </a:p>
        </p:txBody>
      </p:sp>
      <p:sp>
        <p:nvSpPr>
          <p:cNvPr id="45" name="Flow 6 Decision Support"/>
          <p:cNvSpPr/>
          <p:nvPr/>
        </p:nvSpPr>
        <p:spPr>
          <a:xfrm>
            <a:off x="7500000" y="4860000"/>
            <a:ext cx="3400000" cy="680000"/>
          </a:xfrm>
          <a:prstGeom prst="roundRect">
            <a:avLst>
              <a:gd name="adj" fmla="val 14000"/>
            </a:avLst>
          </a:prstGeom>
          <a:solidFill>
            <a:srgbClr val="9ACD4C"/>
          </a:solidFill>
          <a:ln>
            <a:noFill/>
          </a:ln>
        </p:spPr>
        <p:txBody>
          <a:bodyPr wrap="square" lIns="90000" tIns="0" rIns="90000" bIns="0" anchor="ctr"/>
          <a:lstStyle/>
          <a:p>
            <a:pPr algn="ctr"/>
            <a:r>
              <a:rPr lang="en-US" sz="1600" b="1">
                <a:solidFill>
                  <a:srgbClr val="0B2138"/>
                </a:solidFill>
                <a:latin typeface="+mj-lt"/>
              </a:rPr>
              <a:t>Decision Support</a:t>
            </a:r>
          </a:p>
        </p:txBody>
      </p:sp>
      <p:sp>
        <p:nvSpPr>
          <p:cNvPr id="30" name="Key Insight panel"/>
          <p:cNvSpPr/>
          <p:nvPr/>
        </p:nvSpPr>
        <p:spPr>
          <a:xfrm>
            <a:off x="1141412" y="5750000"/>
            <a:ext cx="9909176" cy="900000"/>
          </a:xfrm>
          <a:prstGeom prst="roundRect">
            <a:avLst>
              <a:gd name="adj" fmla="val 7000"/>
            </a:avLst>
          </a:prstGeom>
          <a:solidFill>
            <a:srgbClr val="E2F0D9"/>
          </a:solidFill>
          <a:ln w="19050">
            <a:solidFill>
              <a:srgbClr val="9ACD4C"/>
            </a:solidFill>
          </a:ln>
        </p:spPr>
        <p:txBody>
          <a:bodyPr/>
          <a:lstStyle/>
          <a:p>
            <a:endParaRPr lang="en-US"/>
          </a:p>
        </p:txBody>
      </p:sp>
      <p:sp>
        <p:nvSpPr>
          <p:cNvPr id="31" name="Key Insight accent"/>
          <p:cNvSpPr/>
          <p:nvPr/>
        </p:nvSpPr>
        <p:spPr>
          <a:xfrm>
            <a:off x="1191412" y="5850000"/>
            <a:ext cx="84000" cy="700000"/>
          </a:xfrm>
          <a:prstGeom prst="rect">
            <a:avLst/>
          </a:prstGeom>
          <a:solidFill>
            <a:srgbClr val="0F766E"/>
          </a:solidFill>
        </p:spPr>
        <p:txBody>
          <a:bodyPr/>
          <a:lstStyle/>
          <a:p>
            <a:endParaRPr lang="en-US"/>
          </a:p>
        </p:txBody>
      </p:sp>
      <p:sp>
        <p:nvSpPr>
          <p:cNvPr id="32" name="Key Insight text"/>
          <p:cNvSpPr/>
          <p:nvPr/>
        </p:nvSpPr>
        <p:spPr>
          <a:xfrm>
            <a:off x="1461412" y="5770000"/>
            <a:ext cx="9309176" cy="860000"/>
          </a:xfrm>
          <a:prstGeom prst="rect">
            <a:avLst/>
          </a:prstGeom>
          <a:noFill/>
        </p:spPr>
        <p:txBody>
          <a:bodyPr wrap="square" lIns="0" tIns="0" rIns="0" bIns="0" anchor="ctr"/>
          <a:lstStyle/>
          <a:p>
            <a:pPr>
              <a:spcAft>
                <a:spcPts val="600"/>
              </a:spcAft>
            </a:pPr>
            <a:r>
              <a:rPr lang="en-US" sz="1500" b="1">
                <a:solidFill>
                  <a:srgbClr val="385723"/>
                </a:solidFill>
              </a:rPr>
              <a:t>Key Insight</a:t>
            </a:r>
          </a:p>
          <a:p>
            <a:r>
              <a:rPr lang="en-US" sz="1300">
                <a:solidFill>
                  <a:srgbClr val="0B2138"/>
                </a:solidFill>
                <a:latin typeface="+mj-lt"/>
              </a:rPr>
              <a:t>This project extends beyond predictive modeling by combining data engineering, machine learning, clustering, explainable AI, and interactive visualization into a unified decision-support system for public health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losing eyebrow"/>
          <p:cNvSpPr txBox="1"/>
          <p:nvPr/>
        </p:nvSpPr>
        <p:spPr>
          <a:xfrm>
            <a:off x="1143000" y="621792"/>
            <a:ext cx="4069080" cy="347472"/>
          </a:xfrm>
          <a:prstGeom prst="rect">
            <a:avLst/>
          </a:prstGeom>
          <a:noFill/>
        </p:spPr>
        <p:txBody>
          <a:bodyPr wrap="square" lIns="0" tIns="0" rIns="0" bIns="0" anchor="t">
            <a:spAutoFit/>
          </a:bodyPr>
          <a:lstStyle/>
          <a:p>
            <a:pPr algn="l">
              <a:lnSpc>
                <a:spcPct val="100000"/>
              </a:lnSpc>
            </a:pPr>
            <a:r>
              <a:rPr sz="1800" b="1" u="none">
                <a:solidFill>
                  <a:srgbClr val="9ACD4C"/>
                </a:solidFill>
                <a:latin typeface="+mj-lt"/>
              </a:rPr>
              <a:t>THANK YOU</a:t>
            </a:r>
          </a:p>
        </p:txBody>
      </p:sp>
      <p:sp>
        <p:nvSpPr>
          <p:cNvPr id="3" name="Closing accent rule"/>
          <p:cNvSpPr/>
          <p:nvPr/>
        </p:nvSpPr>
        <p:spPr>
          <a:xfrm>
            <a:off x="1143000" y="1024128"/>
            <a:ext cx="658368" cy="41148"/>
          </a:xfrm>
          <a:prstGeom prst="rect">
            <a:avLst/>
          </a:prstGeom>
          <a:solidFill>
            <a:srgbClr val="9AC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Questions title"/>
          <p:cNvSpPr txBox="1"/>
          <p:nvPr/>
        </p:nvSpPr>
        <p:spPr>
          <a:xfrm>
            <a:off x="1143000" y="1353312"/>
            <a:ext cx="4251960" cy="960120"/>
          </a:xfrm>
          <a:prstGeom prst="rect">
            <a:avLst/>
          </a:prstGeom>
          <a:noFill/>
        </p:spPr>
        <p:txBody>
          <a:bodyPr wrap="square" lIns="0" tIns="0" rIns="0" bIns="0" anchor="t">
            <a:spAutoFit/>
          </a:bodyPr>
          <a:lstStyle/>
          <a:p>
            <a:pPr algn="l">
              <a:lnSpc>
                <a:spcPct val="100000"/>
              </a:lnSpc>
            </a:pPr>
            <a:r>
              <a:rPr sz="5000" b="1" u="none">
                <a:solidFill>
                  <a:srgbClr val="FFFFFF"/>
                </a:solidFill>
                <a:latin typeface="+mj-lt"/>
              </a:rPr>
              <a:t>Questions?</a:t>
            </a:r>
          </a:p>
        </p:txBody>
      </p:sp>
      <p:sp>
        <p:nvSpPr>
          <p:cNvPr id="5" name="Closing subline"/>
          <p:cNvSpPr txBox="1"/>
          <p:nvPr/>
        </p:nvSpPr>
        <p:spPr>
          <a:xfrm>
            <a:off x="1143000" y="2395728"/>
            <a:ext cx="4069080" cy="841248"/>
          </a:xfrm>
          <a:prstGeom prst="rect">
            <a:avLst/>
          </a:prstGeom>
          <a:noFill/>
        </p:spPr>
        <p:txBody>
          <a:bodyPr wrap="square" lIns="0" tIns="0" rIns="0" bIns="0" anchor="t">
            <a:spAutoFit/>
          </a:bodyPr>
          <a:lstStyle/>
          <a:p>
            <a:pPr algn="l">
              <a:lnSpc>
                <a:spcPct val="110000"/>
              </a:lnSpc>
            </a:pPr>
            <a:r>
              <a:rPr sz="1800" b="0" u="none">
                <a:solidFill>
                  <a:srgbClr val="E2F0D9"/>
                </a:solidFill>
                <a:latin typeface="+mn-lt"/>
              </a:rPr>
              <a:t>Explore the code, launch the dashboard, or continue the conversation.</a:t>
            </a:r>
          </a:p>
        </p:txBody>
      </p:sp>
      <p:sp>
        <p:nvSpPr>
          <p:cNvPr id="6" name="Resource divider"/>
          <p:cNvSpPr/>
          <p:nvPr/>
        </p:nvSpPr>
        <p:spPr>
          <a:xfrm>
            <a:off x="5504688" y="713232"/>
            <a:ext cx="22860" cy="5413248"/>
          </a:xfrm>
          <a:prstGeom prst="rect">
            <a:avLst/>
          </a:prstGeom>
          <a:solidFill>
            <a:srgbClr val="9ACD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sources heading"/>
          <p:cNvSpPr txBox="1"/>
          <p:nvPr/>
        </p:nvSpPr>
        <p:spPr>
          <a:xfrm>
            <a:off x="5925312" y="640080"/>
            <a:ext cx="5047488" cy="384048"/>
          </a:xfrm>
          <a:prstGeom prst="rect">
            <a:avLst/>
          </a:prstGeom>
          <a:noFill/>
        </p:spPr>
        <p:txBody>
          <a:bodyPr wrap="square" lIns="0" tIns="0" rIns="0" bIns="0" anchor="t">
            <a:spAutoFit/>
          </a:bodyPr>
          <a:lstStyle/>
          <a:p>
            <a:pPr algn="l">
              <a:lnSpc>
                <a:spcPct val="100000"/>
              </a:lnSpc>
            </a:pPr>
            <a:r>
              <a:rPr sz="1800" b="1" u="none">
                <a:solidFill>
                  <a:srgbClr val="9ACD4C"/>
                </a:solidFill>
                <a:latin typeface="+mj-lt"/>
              </a:rPr>
              <a:t>RESOURCES</a:t>
            </a:r>
          </a:p>
        </p:txBody>
      </p:sp>
      <p:sp>
        <p:nvSpPr>
          <p:cNvPr id="8" name="GitHub label"/>
          <p:cNvSpPr txBox="1"/>
          <p:nvPr/>
        </p:nvSpPr>
        <p:spPr>
          <a:xfrm>
            <a:off x="5925312" y="1298448"/>
            <a:ext cx="5047488" cy="329184"/>
          </a:xfrm>
          <a:prstGeom prst="rect">
            <a:avLst/>
          </a:prstGeom>
          <a:noFill/>
        </p:spPr>
        <p:txBody>
          <a:bodyPr wrap="square" lIns="0" tIns="0" rIns="0" bIns="0" anchor="t">
            <a:spAutoFit/>
          </a:bodyPr>
          <a:lstStyle/>
          <a:p>
            <a:pPr algn="l">
              <a:lnSpc>
                <a:spcPct val="100000"/>
              </a:lnSpc>
            </a:pPr>
            <a:r>
              <a:rPr sz="1700" b="1" u="none">
                <a:solidFill>
                  <a:srgbClr val="FFFFFF"/>
                </a:solidFill>
                <a:latin typeface="+mn-lt"/>
              </a:rPr>
              <a:t>GitHub Repository</a:t>
            </a:r>
          </a:p>
        </p:txBody>
      </p:sp>
      <p:sp>
        <p:nvSpPr>
          <p:cNvPr id="9" name="GitHub URL"/>
          <p:cNvSpPr txBox="1"/>
          <p:nvPr/>
        </p:nvSpPr>
        <p:spPr>
          <a:xfrm>
            <a:off x="5925312" y="1664208"/>
            <a:ext cx="5047488" cy="384721"/>
          </a:xfrm>
          <a:prstGeom prst="rect">
            <a:avLst/>
          </a:prstGeom>
          <a:noFill/>
        </p:spPr>
        <p:txBody>
          <a:bodyPr wrap="square" lIns="0" tIns="0" rIns="0" bIns="0" anchor="t">
            <a:spAutoFit/>
          </a:bodyPr>
          <a:lstStyle/>
          <a:p>
            <a:pPr algn="l">
              <a:lnSpc>
                <a:spcPct val="100000"/>
              </a:lnSpc>
            </a:pPr>
            <a:r>
              <a:rPr sz="1250" b="0" u="sng" dirty="0">
                <a:solidFill>
                  <a:srgbClr val="E2F0D9"/>
                </a:solidFill>
                <a:latin typeface="+mn-lt"/>
                <a:hlinkClick r:id="rId3"/>
              </a:rPr>
              <a:t>https://</a:t>
            </a:r>
            <a:r>
              <a:rPr sz="1250" b="0" u="sng" dirty="0" err="1">
                <a:solidFill>
                  <a:srgbClr val="E2F0D9"/>
                </a:solidFill>
                <a:latin typeface="+mn-lt"/>
                <a:hlinkClick r:id="rId3"/>
              </a:rPr>
              <a:t>github.com</a:t>
            </a:r>
            <a:r>
              <a:rPr sz="1250" b="0" u="sng" dirty="0">
                <a:solidFill>
                  <a:srgbClr val="E2F0D9"/>
                </a:solidFill>
                <a:latin typeface="+mn-lt"/>
                <a:hlinkClick r:id="rId3"/>
              </a:rPr>
              <a:t>/darylm910/</a:t>
            </a:r>
            <a:r>
              <a:rPr sz="1250" b="0" u="sng" dirty="0" err="1">
                <a:solidFill>
                  <a:srgbClr val="E2F0D9"/>
                </a:solidFill>
                <a:latin typeface="+mn-lt"/>
                <a:hlinkClick r:id="rId3"/>
              </a:rPr>
              <a:t>COVID_Decision_Support_System</a:t>
            </a:r>
            <a:endParaRPr sz="1250" b="0" u="sng" dirty="0">
              <a:solidFill>
                <a:srgbClr val="E2F0D9"/>
              </a:solidFill>
              <a:latin typeface="+mn-lt"/>
            </a:endParaRPr>
          </a:p>
        </p:txBody>
      </p:sp>
      <p:sp>
        <p:nvSpPr>
          <p:cNvPr id="10" name="Dashboard label"/>
          <p:cNvSpPr txBox="1">
            <a:spLocks/>
          </p:cNvSpPr>
          <p:nvPr/>
        </p:nvSpPr>
        <p:spPr>
          <a:xfrm>
            <a:off x="5925312" y="2423160"/>
            <a:ext cx="5047488" cy="329184"/>
          </a:xfrm>
          <a:prstGeom prst="rect">
            <a:avLst/>
          </a:prstGeom>
          <a:noFill/>
        </p:spPr>
        <p:txBody>
          <a:bodyPr wrap="square" lIns="0" tIns="0" rIns="0" bIns="0" anchor="t">
            <a:spAutoFit/>
          </a:bodyPr>
          <a:lstStyle/>
          <a:p>
            <a:pPr algn="l">
              <a:lnSpc>
                <a:spcPct val="100000"/>
              </a:lnSpc>
            </a:pPr>
            <a:r>
              <a:rPr lang="en-US" sz="1700" b="1" u="none">
                <a:solidFill>
                  <a:srgbClr val="FFFFFF"/>
                </a:solidFill>
                <a:latin typeface="+mn-lt"/>
              </a:rPr>
              <a:t>Live Dashboard</a:t>
            </a:r>
          </a:p>
        </p:txBody>
      </p:sp>
      <p:sp>
        <p:nvSpPr>
          <p:cNvPr id="11" name="Dashboard URL"/>
          <p:cNvSpPr txBox="1">
            <a:spLocks/>
          </p:cNvSpPr>
          <p:nvPr/>
        </p:nvSpPr>
        <p:spPr>
          <a:xfrm>
            <a:off x="5925312" y="2788920"/>
            <a:ext cx="5047488" cy="369332"/>
          </a:xfrm>
          <a:prstGeom prst="rect">
            <a:avLst/>
          </a:prstGeom>
          <a:noFill/>
        </p:spPr>
        <p:txBody>
          <a:bodyPr wrap="square" lIns="0" tIns="0" rIns="0" bIns="0" anchor="t">
            <a:spAutoFit/>
          </a:bodyPr>
          <a:lstStyle/>
          <a:p>
            <a:pPr algn="l">
              <a:lnSpc>
                <a:spcPct val="100000"/>
              </a:lnSpc>
            </a:pPr>
            <a:r>
              <a:rPr lang="en-US" sz="1200" b="0" u="sng" dirty="0">
                <a:solidFill>
                  <a:srgbClr val="E2F0D9"/>
                </a:solidFill>
                <a:latin typeface="+mn-lt"/>
                <a:hlinkClick r:id="rId4"/>
              </a:rPr>
              <a:t>https://coviddecisionsupportsystem-bwdacuubwqgfphchtpbb8p.streamlit.app</a:t>
            </a:r>
            <a:endParaRPr lang="en-US" sz="1200" b="0" u="sng" dirty="0">
              <a:solidFill>
                <a:srgbClr val="E2F0D9"/>
              </a:solidFill>
              <a:latin typeface="+mn-lt"/>
            </a:endParaRPr>
          </a:p>
        </p:txBody>
      </p:sp>
      <p:sp>
        <p:nvSpPr>
          <p:cNvPr id="12" name="Technologies label"/>
          <p:cNvSpPr txBox="1">
            <a:spLocks/>
          </p:cNvSpPr>
          <p:nvPr/>
        </p:nvSpPr>
        <p:spPr>
          <a:xfrm>
            <a:off x="5925312" y="3703320"/>
            <a:ext cx="5047488" cy="329184"/>
          </a:xfrm>
          <a:prstGeom prst="rect">
            <a:avLst/>
          </a:prstGeom>
          <a:noFill/>
        </p:spPr>
        <p:txBody>
          <a:bodyPr wrap="square" lIns="0" tIns="0" rIns="0" bIns="0" anchor="t">
            <a:spAutoFit/>
          </a:bodyPr>
          <a:lstStyle/>
          <a:p>
            <a:pPr algn="l">
              <a:lnSpc>
                <a:spcPct val="100000"/>
              </a:lnSpc>
            </a:pPr>
            <a:r>
              <a:rPr lang="en-US" sz="1700" b="1" u="none">
                <a:solidFill>
                  <a:srgbClr val="FFFFFF"/>
                </a:solidFill>
                <a:latin typeface="+mn-lt"/>
              </a:rPr>
              <a:t>Technologies</a:t>
            </a:r>
          </a:p>
        </p:txBody>
      </p:sp>
      <p:sp>
        <p:nvSpPr>
          <p:cNvPr id="13" name="Technologies list"/>
          <p:cNvSpPr txBox="1"/>
          <p:nvPr/>
        </p:nvSpPr>
        <p:spPr>
          <a:xfrm>
            <a:off x="5925312" y="4087368"/>
            <a:ext cx="5047488" cy="868680"/>
          </a:xfrm>
          <a:prstGeom prst="rect">
            <a:avLst/>
          </a:prstGeom>
          <a:noFill/>
        </p:spPr>
        <p:txBody>
          <a:bodyPr wrap="square" lIns="0" tIns="0" rIns="0" bIns="0" anchor="t">
            <a:spAutoFit/>
          </a:bodyPr>
          <a:lstStyle/>
          <a:p>
            <a:pPr algn="l">
              <a:lnSpc>
                <a:spcPct val="110000"/>
              </a:lnSpc>
            </a:pPr>
            <a:r>
              <a:rPr sz="1450" b="0" u="none">
                <a:solidFill>
                  <a:srgbClr val="E2F0D9"/>
                </a:solidFill>
                <a:latin typeface="+mn-lt"/>
              </a:rPr>
              <a:t>Python  •  Pandas  •  Scikit-learn
SHAP  •  Streamlit  •  Plotly</a:t>
            </a:r>
          </a:p>
        </p:txBody>
      </p:sp>
      <p:sp>
        <p:nvSpPr>
          <p:cNvPr id="14" name="Footer rule"/>
          <p:cNvSpPr/>
          <p:nvPr/>
        </p:nvSpPr>
        <p:spPr>
          <a:xfrm>
            <a:off x="5925312" y="5266944"/>
            <a:ext cx="5047488" cy="16459"/>
          </a:xfrm>
          <a:prstGeom prst="rect">
            <a:avLst/>
          </a:prstGeom>
          <a:solidFill>
            <a:srgbClr val="7B8E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rogram footer"/>
          <p:cNvSpPr txBox="1"/>
          <p:nvPr/>
        </p:nvSpPr>
        <p:spPr>
          <a:xfrm>
            <a:off x="5925312" y="5449824"/>
            <a:ext cx="5047488" cy="329184"/>
          </a:xfrm>
          <a:prstGeom prst="rect">
            <a:avLst/>
          </a:prstGeom>
          <a:noFill/>
        </p:spPr>
        <p:txBody>
          <a:bodyPr wrap="square" lIns="0" tIns="0" rIns="0" bIns="0" anchor="t">
            <a:spAutoFit/>
          </a:bodyPr>
          <a:lstStyle/>
          <a:p>
            <a:pPr algn="l">
              <a:lnSpc>
                <a:spcPct val="100000"/>
              </a:lnSpc>
            </a:pPr>
            <a:r>
              <a:rPr sz="1350" b="0" u="none">
                <a:solidFill>
                  <a:srgbClr val="C8D5D2"/>
                </a:solidFill>
                <a:latin typeface="+mn-lt"/>
              </a:rPr>
              <a:t>Springboard Data Science Career Track</a:t>
            </a:r>
          </a:p>
        </p:txBody>
      </p:sp>
      <p:sp>
        <p:nvSpPr>
          <p:cNvPr id="16" name="Capstone footer"/>
          <p:cNvSpPr txBox="1"/>
          <p:nvPr/>
        </p:nvSpPr>
        <p:spPr>
          <a:xfrm>
            <a:off x="5925312" y="5779008"/>
            <a:ext cx="5047488" cy="310896"/>
          </a:xfrm>
          <a:prstGeom prst="rect">
            <a:avLst/>
          </a:prstGeom>
          <a:noFill/>
        </p:spPr>
        <p:txBody>
          <a:bodyPr wrap="square" lIns="0" tIns="0" rIns="0" bIns="0" anchor="t">
            <a:spAutoFit/>
          </a:bodyPr>
          <a:lstStyle/>
          <a:p>
            <a:pPr algn="l">
              <a:lnSpc>
                <a:spcPct val="100000"/>
              </a:lnSpc>
            </a:pPr>
            <a:r>
              <a:rPr sz="1350" b="1" u="none">
                <a:solidFill>
                  <a:srgbClr val="9ACD4C"/>
                </a:solidFill>
                <a:latin typeface="+mn-lt"/>
              </a:rPr>
              <a:t>Capstone 3</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B2129"/>
      </a:dk2>
      <a:lt2>
        <a:srgbClr val="19C3B2"/>
      </a:lt2>
      <a:accent1>
        <a:srgbClr val="A6E22E"/>
      </a:accent1>
      <a:accent2>
        <a:srgbClr val="2DD4BF"/>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Segoe UI"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olas"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Circuit</Template>
  <TotalTime>10100</TotalTime>
  <Words>1470</Words>
  <Application>Microsoft Macintosh PowerPoint</Application>
  <PresentationFormat>Widescreen</PresentationFormat>
  <Paragraphs>131</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Consolas</vt:lpstr>
      <vt:lpstr>Segoe UI</vt:lpstr>
      <vt:lpstr>Circuit</vt:lpstr>
      <vt:lpstr>AN INTERACTIVE COVID-19 DECISION SUPPORT APPLICATION  Integrating Machine Learning, Clustering, and Explainable AI</vt:lpstr>
      <vt:lpstr>Project Evolution</vt:lpstr>
      <vt:lpstr>System Architecture</vt:lpstr>
      <vt:lpstr>Country Exploration Through Clustering</vt:lpstr>
      <vt:lpstr>Explainable AI Using SHAP</vt:lpstr>
      <vt:lpstr>Interactive Dashboard</vt:lpstr>
      <vt:lpstr>Interactive Scenario Analysis</vt:lpstr>
      <vt:lpstr>Project DELIVERABLES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Daryl Morris</dc:creator>
  <cp:lastModifiedBy>Daryl Morris</cp:lastModifiedBy>
  <cp:revision>9</cp:revision>
  <cp:lastPrinted>2026-07-07T23:48:10Z</cp:lastPrinted>
  <dcterms:created xsi:type="dcterms:W3CDTF">2026-07-04T21:30:52Z</dcterms:created>
  <dcterms:modified xsi:type="dcterms:W3CDTF">2026-08-03T03:38:51Z</dcterms:modified>
</cp:coreProperties>
</file>